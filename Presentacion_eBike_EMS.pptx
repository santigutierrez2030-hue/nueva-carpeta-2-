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6" r:id="rId1"/>
  </p:sldMasterIdLst>
  <p:notesMasterIdLst>
    <p:notesMasterId r:id="rId15"/>
  </p:notesMasterIdLst>
  <p:handoutMasterIdLst>
    <p:handoutMasterId r:id="rId16"/>
  </p:handoutMasterIdLst>
  <p:sldIdLst>
    <p:sldId id="544" r:id="rId2"/>
    <p:sldId id="536" r:id="rId11"/>
    <p:sldId id="532" r:id="rId13"/>
    <p:sldId id="549" r:id="rId21"/>
    <p:sldId id="554" r:id="rId26"/>
    <p:sldId id="555" r:id="rId27"/>
    <p:sldId id="556" r:id="rId28"/>
    <p:sldId id="557" r:id="rId29"/>
    <p:sldId id="558" r:id="rId30"/>
    <p:sldId id="550" r:id="rId22"/>
    <p:sldId id="559" r:id="rId31"/>
    <p:sldId id="53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95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87" userDrawn="1">
          <p15:clr>
            <a:srgbClr val="A4A3A4"/>
          </p15:clr>
        </p15:guide>
        <p15:guide id="4" pos="438" userDrawn="1">
          <p15:clr>
            <a:srgbClr val="A4A3A4"/>
          </p15:clr>
        </p15:guide>
        <p15:guide id="5" orient="horz" pos="2387" userDrawn="1">
          <p15:clr>
            <a:srgbClr val="A4A3A4"/>
          </p15:clr>
        </p15:guide>
        <p15:guide id="6" orient="horz" pos="2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4D4C"/>
    <a:srgbClr val="343433"/>
    <a:srgbClr val="FF6C00"/>
    <a:srgbClr val="38AA00"/>
    <a:srgbClr val="766363"/>
    <a:srgbClr val="FFF5EA"/>
    <a:srgbClr val="0032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/>
    <p:restoredTop sz="97242"/>
  </p:normalViewPr>
  <p:slideViewPr>
    <p:cSldViewPr snapToGrid="0">
      <p:cViewPr varScale="1">
        <p:scale>
          <a:sx n="84" d="100"/>
          <a:sy n="84" d="100"/>
        </p:scale>
        <p:origin x="1092" y="31"/>
      </p:cViewPr>
      <p:guideLst>
        <p:guide orient="horz" pos="595"/>
        <p:guide pos="3840"/>
        <p:guide orient="horz" pos="187"/>
        <p:guide pos="438"/>
        <p:guide orient="horz" pos="2387"/>
        <p:guide orient="horz" pos="2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5336" y="20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1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12.xml"/><Relationship Id="rId15" Type="http://schemas.openxmlformats.org/officeDocument/2006/relationships/notesMaster" Target="notesMasters/notesMaster1.xml"/><Relationship Id="rId16" Type="http://schemas.openxmlformats.org/officeDocument/2006/relationships/handoutMaster" Target="handoutMasters/handout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4.xml"/><Relationship Id="rId22" Type="http://schemas.openxmlformats.org/officeDocument/2006/relationships/slide" Target="slides/slide10.xml"/><Relationship Id="rId26" Type="http://schemas.openxmlformats.org/officeDocument/2006/relationships/slide" Target="slides/slide5.xml"/><Relationship Id="rId27" Type="http://schemas.openxmlformats.org/officeDocument/2006/relationships/slide" Target="slides/slide6.xml"/><Relationship Id="rId28" Type="http://schemas.openxmlformats.org/officeDocument/2006/relationships/slide" Target="slides/slide7.xml"/><Relationship Id="rId29" Type="http://schemas.openxmlformats.org/officeDocument/2006/relationships/slide" Target="slides/slide8.xml"/><Relationship Id="rId30" Type="http://schemas.openxmlformats.org/officeDocument/2006/relationships/slide" Target="slides/slide9.xml"/><Relationship Id="rId31" Type="http://schemas.openxmlformats.org/officeDocument/2006/relationships/slide" Target="slides/slide1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999AFE6-721E-1D92-FFC0-72E02DBB97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A598C0A-ECF9-B897-80D5-1AE7ABA305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369B9F-131C-2846-AB8F-CEE154B4CAEB}" type="datetimeFigureOut">
              <a:rPr lang="es-CO" smtClean="0"/>
              <a:t>20/08/2025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88F308B-0102-A0B4-9A23-E807C735E8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E7CACDD-5D14-572A-2591-609B03F168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93070F-3F68-E043-9CC3-B53B4F2245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00459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0CB96-A603-FF42-AE46-F5F75F80A67B}" type="datetimeFigureOut">
              <a:rPr lang="es-CO" smtClean="0"/>
              <a:t>20/08/2025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6C58E-460D-4A4B-B0C2-1191B9D14F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1302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Presentación del eBike Management System (EMS): un sistema web para gestionar el arrendamiento de bicicletas eléctricas compartidas. Hoy se muestra el trabajo de la semana: matriz de requisitos, modelo de datos, front-end y ficha del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Hoy la operación de bicicletas compartidas suele manejarse con herramientas separadas. EMS junta alquileres, flota, energía, mantenimiento y pagos en una sola plataforma.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sistema separa lo que puede hacer cada persona. Un nivel más alto significa más funciones. Cada perfil tiene su propia vista en el front-end.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matriz de requisitos tiene 44 requisitos funcionales en 11 módulos, 17 no funcionales (rendimiento, seguridad, disponibilidad, entre otros), 44 reglas de negocio y 44 requisitos de información que apuntan a las tablas de la base de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modelo entidad-relación es la vista conceptual. Los módulos son seguridad, pagos, flota, alquiler y energía. La imagen completa está en el archivo Modelo_ER_EMS.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modelo relacional baja el ER a tablas, columnas y llaves. Está normalizado hasta tercera forma normal. La notación usa pata de gallo para el lado muchos.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script se probó en un MySQL real: crea las 17 tablas y las 2 vistas, carga los datos base y los de ejemplo, y rechaza datos que rompen las reglas de negocio. Se hicieron 10 pruebas negativas y todas fueron rechazadas.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vista principal responde la pregunta del usuario: qué bicicletas puedo tomar ahora. El tablero usa los mismos datos de ejemplo de la base de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perfil entra a su propia vista. El cliente alquila y paga; el operador cuida la flota y las baterías; el administrador mira la operación; el superadministrador define permisos y configuración.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proyecto está planeado en 12 semanas con tres sprints de cuatro semanas. El reto es gestionar 50 bicicletas en 5 estaciones y 100 alquileres diarios con tiempo de respuesta menor a 2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 entregado esta semana cubre el análisis, el diseño de datos y el front-end. Queda construir el backend, los triggers de auditoría y definir la disponibilidad objetivo, porque la matriz dice 99,9 % y la documentación técnica 99,5 %.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20/08/2025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3975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20/08/2025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66617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20/08/2025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20098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20/08/2025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51341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20/08/2025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21182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20/08/2025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24797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20/08/2025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809736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20/08/2025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0231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20/08/2025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57728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20/08/2025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16382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20/08/2025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097517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E09D5-8681-04F4-0AD1-7206C3FF5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EB62C8D-42BE-8DF8-DDA7-6DDCB2389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20/08/2025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9F9D5C3-AD35-C818-D069-AB2D8EBBE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106A169-E84D-2DE1-E7CC-7058F9C00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565984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86248-06F7-A441-A47A-264EBD310E11}" type="datetimeFigureOut">
              <a:rPr lang="es-CO" smtClean="0"/>
              <a:t>20/08/2025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1471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7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2FCF1B-3E11-3F22-6015-1D39D506E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E10E589-B888-5E3E-CA59-27D086F81F4B}"/>
              </a:ext>
            </a:extLst>
          </p:cNvPr>
          <p:cNvSpPr txBox="1"/>
          <p:nvPr/>
        </p:nvSpPr>
        <p:spPr>
          <a:xfrm>
            <a:off x="963672" y="2057400"/>
            <a:ext cx="85953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Work Sans Bold Roman" pitchFamily="2" charset="77"/>
                <a:ea typeface="+mn-ea"/>
                <a:cs typeface="+mn-cs"/>
              </a:rPr>
              <a:t>eBike Management</a:t>
            </a: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Work Sans Bold Roman" pitchFamily="2" charset="77"/>
                <a:ea typeface="+mn-ea"/>
                <a:cs typeface="+mn-cs"/>
              </a:rPr>
              <a:t>System (EMS)</a:t>
            </a:r>
            <a:endParaRPr kumimoji="0" lang="es-ES" sz="4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Work Sans Bold Roman" pitchFamily="2" charset="77"/>
              <a:ea typeface="+mn-ea"/>
              <a:cs typeface="+mn-cs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4E74E67-5DA0-D842-19A5-A58C5A6DD5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976" t="22927" r="24976" b="22927"/>
          <a:stretch/>
        </p:blipFill>
        <p:spPr>
          <a:xfrm>
            <a:off x="10207572" y="1055213"/>
            <a:ext cx="923111" cy="90876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781EE8E9-258F-5D3D-5407-C96214A312A8}"/>
              </a:ext>
            </a:extLst>
          </p:cNvPr>
          <p:cNvSpPr txBox="1"/>
          <p:nvPr/>
        </p:nvSpPr>
        <p:spPr>
          <a:xfrm>
            <a:off x="391886" y="296862"/>
            <a:ext cx="28283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kumimoji="0" lang="es-CO" sz="1000" b="1" u="none" strike="noStrike" kern="1200" cap="none" spc="0" normalizeH="0" baseline="0" noProof="0" dirty="0">
                <a:ln>
                  <a:noFill/>
                </a:ln>
                <a:solidFill>
                  <a:srgbClr val="4D4D4C"/>
                </a:solidFill>
                <a:effectLst/>
                <a:uLnTx/>
                <a:uFillTx/>
                <a:latin typeface="WORK SANS SEMIBOLD ROMAN" pitchFamily="2" charset="77"/>
                <a:cs typeface="Arial" panose="020B0604020202020204" pitchFamily="34" charset="0"/>
              </a:rPr>
              <a:t>Clasificación de la información: </a:t>
            </a:r>
            <a:r>
              <a:rPr lang="es-CO" sz="1000" b="1" dirty="0">
                <a:solidFill>
                  <a:srgbClr val="4D4D4C"/>
                </a:solidFill>
                <a:latin typeface="WORK SANS SEMIBOLD ROMAN" pitchFamily="2" charset="77"/>
                <a:cs typeface="Arial" panose="020B0604020202020204" pitchFamily="34" charset="0"/>
              </a:rPr>
              <a:t>Pública</a:t>
            </a:r>
            <a:endParaRPr kumimoji="0" lang="es-CO" sz="1000" b="1" u="none" strike="noStrike" kern="1200" cap="none" spc="0" normalizeH="0" baseline="0" noProof="0" dirty="0">
              <a:ln>
                <a:noFill/>
              </a:ln>
              <a:solidFill>
                <a:srgbClr val="4D4D4C"/>
              </a:solidFill>
              <a:effectLst/>
              <a:uLnTx/>
              <a:uFillTx/>
              <a:latin typeface="WORK SANS SEMIBOLD ROMAN" pitchFamily="2" charset="77"/>
              <a:cs typeface="Arial" panose="020B0604020202020204" pitchFamily="34" charset="0"/>
            </a:endParaRPr>
          </a:p>
        </p:txBody>
      </p:sp>
      <p:sp>
        <p:nvSpPr>
          <p:cNvPr id="6" name="Subtítulo"/>
          <p:cNvSpPr txBox="1"/>
          <p:nvPr/>
        </p:nvSpPr>
        <p:spPr>
          <a:xfrm>
            <a:off x="1051560" y="3886200"/>
            <a:ext cx="78638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lang="es-CO" sz="2000" dirty="0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Sistema de gestión de arrendamiento de bicicletas eléctricas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dirty="0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Técnico en Desarrollo de Software · SENA</a:t>
            </a:r>
          </a:p>
        </p:txBody>
      </p:sp>
    </p:spTree>
    <p:extLst>
      <p:ext uri="{BB962C8B-B14F-4D97-AF65-F5344CB8AC3E}">
        <p14:creationId xmlns:p14="http://schemas.microsoft.com/office/powerpoint/2010/main" val="2619423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CE75F1-F343-8856-BC69-4BB6B82BF3E4}"/>
              </a:ext>
            </a:extLst>
          </p:cNvPr>
          <p:cNvSpPr txBox="1">
            <a:spLocks/>
          </p:cNvSpPr>
          <p:nvPr/>
        </p:nvSpPr>
        <p:spPr>
          <a:xfrm>
            <a:off x="695325" y="944563"/>
            <a:ext cx="10789920" cy="402295"/>
          </a:xfrm>
          <a:prstGeom prst="rect">
            <a:avLst/>
          </a:prstGeom>
          <a:ln>
            <a:noFill/>
          </a:ln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3600" b="1" u="none" strike="noStrike" kern="1200" cap="none" spc="0" normalizeH="0" baseline="0" noProof="0" dirty="0">
                <a:ln>
                  <a:noFill/>
                </a:ln>
                <a:solidFill>
                  <a:srgbClr val="4D4D4C"/>
                </a:solidFill>
                <a:effectLst/>
                <a:uLnTx/>
                <a:uFillTx/>
                <a:latin typeface="WORK SANS BOLD ROMAN" pitchFamily="2" charset="77"/>
              </a:rPr>
              <a:t>El problema y la solución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6C31FC2-6C63-0CB9-C78D-1723D5E9DD66}"/>
              </a:ext>
            </a:extLst>
          </p:cNvPr>
          <p:cNvSpPr txBox="1"/>
          <p:nvPr/>
        </p:nvSpPr>
        <p:spPr>
          <a:xfrm>
            <a:off x="694944" y="1828800"/>
            <a:ext cx="4846320" cy="36933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  <a:buNone/>
            </a:pPr>
            <a:r>
              <a:rPr lang="es-CO" sz="2200" b="1" dirty="0">
                <a:solidFill>
                  <a:srgbClr val="38AA00"/>
                </a:solidFill>
                <a:latin typeface="WORK SANS BOLD ROMAN" pitchFamily="2" charset="77"/>
              </a:rPr>
              <a:t>El problema</a:t>
            </a:r>
          </a:p>
          <a:p>
            <a:pPr marL="285750" indent="-285750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s-CO" sz="1800" dirty="0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Control manual del inventario de bicicletas.</a:t>
            </a:r>
          </a:p>
          <a:p>
            <a:pPr marL="285750" indent="-285750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s-CO" sz="1800" dirty="0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Sin seguimiento del estado de las baterías ni de la flota.</a:t>
            </a:r>
          </a:p>
          <a:p>
            <a:pPr marL="285750" indent="-285750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s-CO" sz="1800" dirty="0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Pagos separados del alquiler.</a:t>
            </a:r>
          </a:p>
          <a:p>
            <a:pPr marL="285750" indent="-285750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s-CO" sz="1800" dirty="0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Estaciones y mantenimiento atendidos solo cuando algo falla.</a:t>
            </a:r>
          </a:p>
          <a:p>
            <a:pPr marL="285750" indent="-285750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s-CO" sz="1800" dirty="0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Pocos datos para analizar la operación.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9A9B9AD-98C5-3207-38A3-E41FED9161AC}"/>
              </a:ext>
            </a:extLst>
          </p:cNvPr>
          <p:cNvSpPr txBox="1"/>
          <p:nvPr/>
        </p:nvSpPr>
        <p:spPr>
          <a:xfrm>
            <a:off x="6099048" y="1828800"/>
            <a:ext cx="5394960" cy="32932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  <a:buNone/>
            </a:pPr>
            <a:r>
              <a:rPr lang="es-CO" sz="2200" b="1" dirty="0">
                <a:solidFill>
                  <a:srgbClr val="38AA00"/>
                </a:solidFill>
                <a:latin typeface="WORK SANS BOLD ROMAN" pitchFamily="2" charset="77"/>
              </a:rPr>
              <a:t>La solución: EMS</a:t>
            </a:r>
          </a:p>
          <a:p>
            <a:pPr>
              <a:spcBef>
                <a:spcPts val="0"/>
              </a:spcBef>
              <a:spcAft>
                <a:spcPts val="1000"/>
              </a:spcAft>
              <a:buNone/>
            </a:pPr>
            <a:r>
              <a:rPr lang="es-CO" sz="1800" dirty="0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Una plataforma web que reúne en un solo lugar:</a:t>
            </a:r>
          </a:p>
          <a:p>
            <a:pPr marL="285750" indent="-285750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s-CO" sz="1800" dirty="0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Alquiler con tarifa y pago automáticos.</a:t>
            </a:r>
          </a:p>
          <a:p>
            <a:pPr marL="285750" indent="-285750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s-CO" sz="1800" dirty="0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Control de flota, estaciones y baterías.</a:t>
            </a:r>
          </a:p>
          <a:p>
            <a:pPr marL="285750" indent="-285750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s-CO" sz="1800" dirty="0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Alertas de carga crítica y seguimiento del mantenimiento.</a:t>
            </a:r>
          </a:p>
          <a:p>
            <a:pPr marL="285750" indent="-285750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s-CO" sz="1800" dirty="0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Reportes para decidir con datos.</a:t>
            </a:r>
          </a:p>
        </p:txBody>
      </p:sp>
    </p:spTree>
    <p:extLst>
      <p:ext uri="{BB962C8B-B14F-4D97-AF65-F5344CB8AC3E}">
        <p14:creationId xmlns:p14="http://schemas.microsoft.com/office/powerpoint/2010/main" val="458058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BB6F714C-A6B0-54AE-507A-D0700714D94B}"/>
              </a:ext>
            </a:extLst>
          </p:cNvPr>
          <p:cNvSpPr txBox="1">
            <a:spLocks/>
          </p:cNvSpPr>
          <p:nvPr/>
        </p:nvSpPr>
        <p:spPr>
          <a:xfrm>
            <a:off x="695325" y="416690"/>
            <a:ext cx="10789920" cy="527874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 BOLD ROMAN" pitchFamily="2" charset="77"/>
              </a:rPr>
              <a:t>Cuatro perfiles de usuario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F34F41D7-D1E2-1CA5-1156-215427D7E9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3148142"/>
              </p:ext>
            </p:extLst>
          </p:nvPr>
        </p:nvGraphicFramePr>
        <p:xfrm>
          <a:off x="694944" y="1554480"/>
          <a:ext cx="10789919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097280"/>
                <a:gridCol w="6949440"/>
              </a:tblGrid>
              <a:tr h="548640">
                <a:extLst>
                  <a:ext uri="{0D108BD9-81ED-4DB2-BD59-A6C34878D82A}">
                    <a16:rowId xmlns:a16="http://schemas.microsoft.com/office/drawing/2014/main" val="2583589052"/>
                  </a:ext>
                </a:extLst>
                <a:tc>
                  <a:txBody>
                    <a:bodyPr/>
                    <a:lstStyle/>
                    <a:p>
                      <a:pPr algn="l"/>
                      <a:r>
                        <a:rPr lang="es-CO" sz="1600" b="1" i="0" dirty="0">
                          <a:latin typeface="WORK SANS REGULAR ROMAN" pitchFamily="2" charset="77"/>
                        </a:rPr>
                        <a:t>Perfil</a:t>
                      </a:r>
                    </a:p>
                  </a:txBody>
                  <a:tcPr marT="36000" marB="36000" anchor="ctr" marL="91440" marR="9144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D4D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600" b="1" i="0" dirty="0">
                          <a:latin typeface="WORK SANS REGULAR ROMAN" pitchFamily="2" charset="77"/>
                        </a:rPr>
                        <a:t>Nivel</a:t>
                      </a:r>
                    </a:p>
                  </a:txBody>
                  <a:tcPr marT="36000" marB="36000" anchor="ctr" marL="91440" marR="9144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D4D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600" b="1" i="0" dirty="0">
                          <a:latin typeface="WORK SANS REGULAR ROMAN" pitchFamily="2" charset="77"/>
                        </a:rPr>
                        <a:t>Qué puede hacer</a:t>
                      </a:r>
                    </a:p>
                  </a:txBody>
                  <a:tcPr marT="36000" marB="36000" anchor="ctr" marL="91440" marR="9144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D4D4C"/>
                    </a:solidFill>
                  </a:tcPr>
                </a:tc>
              </a:tr>
              <a:tr h="777240">
                <a:extLst>
                  <a:ext uri="{0D108BD9-81ED-4DB2-BD59-A6C34878D82A}">
                    <a16:rowId xmlns:a16="http://schemas.microsoft.com/office/drawing/2014/main" val="2583589052"/>
                  </a:ext>
                </a:extLst>
                <a:tc>
                  <a:txBody>
                    <a:bodyPr/>
                    <a:lstStyle/>
                    <a:p>
                      <a:pPr algn="l"/>
                      <a:r>
                        <a:rPr lang="es-CO" sz="1600" b="1" i="0" dirty="0">
                          <a:solidFill>
                            <a:schemeClr val="accent5">
                              <a:lumMod val="85000"/>
                              <a:lumOff val="15000"/>
                            </a:schemeClr>
                          </a:solidFill>
                          <a:latin typeface="WORK SANS BOLD ROMAN" pitchFamily="2" charset="77"/>
                        </a:rPr>
                        <a:t>Cliente</a:t>
                      </a:r>
                    </a:p>
                  </a:txBody>
                  <a:tcPr marT="36000" marB="36000" anchor="ctr" marL="91440" marR="9144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600" b="0" i="0" dirty="0">
                          <a:solidFill>
                            <a:schemeClr val="accent5">
                              <a:lumMod val="85000"/>
                              <a:lumOff val="15000"/>
                            </a:schemeClr>
                          </a:solidFill>
                          <a:latin typeface="WORK SANS LIGHT ROMAN" pitchFamily="2" charset="77"/>
                        </a:rPr>
                        <a:t>1</a:t>
                      </a:r>
                    </a:p>
                  </a:txBody>
                  <a:tcPr marT="36000" marB="36000" anchor="ctr" marL="91440" marR="9144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600" b="0" i="0" dirty="0">
                          <a:solidFill>
                            <a:schemeClr val="accent5">
                              <a:lumMod val="85000"/>
                              <a:lumOff val="15000"/>
                            </a:schemeClr>
                          </a:solidFill>
                          <a:latin typeface="WORK SANS LIGHT ROMAN" pitchFamily="2" charset="77"/>
                        </a:rPr>
                        <a:t>Alquila bicicletas, paga y consulta su historial</a:t>
                      </a:r>
                    </a:p>
                  </a:txBody>
                  <a:tcPr marT="36000" marB="36000" anchor="ctr" marL="91440" marR="9144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77240">
                <a:extLst>
                  <a:ext uri="{0D108BD9-81ED-4DB2-BD59-A6C34878D82A}">
                    <a16:rowId xmlns:a16="http://schemas.microsoft.com/office/drawing/2014/main" val="2583589052"/>
                  </a:ext>
                </a:extLst>
                <a:tc>
                  <a:txBody>
                    <a:bodyPr/>
                    <a:lstStyle/>
                    <a:p>
                      <a:pPr algn="l"/>
                      <a:r>
                        <a:rPr lang="es-CO" sz="1600" b="1" i="0" dirty="0">
                          <a:solidFill>
                            <a:schemeClr val="accent5">
                              <a:lumMod val="85000"/>
                              <a:lumOff val="15000"/>
                            </a:schemeClr>
                          </a:solidFill>
                          <a:latin typeface="WORK SANS BOLD ROMAN" pitchFamily="2" charset="77"/>
                        </a:rPr>
                        <a:t>Operador</a:t>
                      </a:r>
                    </a:p>
                  </a:txBody>
                  <a:tcPr marT="36000" marB="36000" anchor="ctr" marL="91440" marR="9144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600" b="0" i="0" dirty="0">
                          <a:solidFill>
                            <a:schemeClr val="accent5">
                              <a:lumMod val="85000"/>
                              <a:lumOff val="15000"/>
                            </a:schemeClr>
                          </a:solidFill>
                          <a:latin typeface="WORK SANS LIGHT ROMAN" pitchFamily="2" charset="77"/>
                        </a:rPr>
                        <a:t>2</a:t>
                      </a:r>
                    </a:p>
                  </a:txBody>
                  <a:tcPr marT="36000" marB="36000" anchor="ctr" marL="91440" marR="9144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600" b="0" i="0" dirty="0">
                          <a:solidFill>
                            <a:schemeClr val="accent5">
                              <a:lumMod val="85000"/>
                              <a:lumOff val="15000"/>
                            </a:schemeClr>
                          </a:solidFill>
                          <a:latin typeface="WORK SANS LIGHT ROMAN" pitchFamily="2" charset="77"/>
                        </a:rPr>
                        <a:t>Gestiona bicicletas, baterías y mantenimiento</a:t>
                      </a:r>
                    </a:p>
                  </a:txBody>
                  <a:tcPr marT="36000" marB="36000" anchor="ctr" marL="91440" marR="9144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77240">
                <a:extLst>
                  <a:ext uri="{0D108BD9-81ED-4DB2-BD59-A6C34878D82A}">
                    <a16:rowId xmlns:a16="http://schemas.microsoft.com/office/drawing/2014/main" val="2583589052"/>
                  </a:ext>
                </a:extLst>
                <a:tc>
                  <a:txBody>
                    <a:bodyPr/>
                    <a:lstStyle/>
                    <a:p>
                      <a:pPr algn="l"/>
                      <a:r>
                        <a:rPr lang="es-CO" sz="1600" b="1" i="0" dirty="0">
                          <a:solidFill>
                            <a:schemeClr val="accent5">
                              <a:lumMod val="85000"/>
                              <a:lumOff val="15000"/>
                            </a:schemeClr>
                          </a:solidFill>
                          <a:latin typeface="WORK SANS BOLD ROMAN" pitchFamily="2" charset="77"/>
                        </a:rPr>
                        <a:t>Administrador</a:t>
                      </a:r>
                    </a:p>
                  </a:txBody>
                  <a:tcPr marT="36000" marB="36000" anchor="ctr" marL="91440" marR="9144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600" b="0" i="0" dirty="0">
                          <a:solidFill>
                            <a:schemeClr val="accent5">
                              <a:lumMod val="85000"/>
                              <a:lumOff val="15000"/>
                            </a:schemeClr>
                          </a:solidFill>
                          <a:latin typeface="WORK SANS LIGHT ROMAN" pitchFamily="2" charset="77"/>
                        </a:rPr>
                        <a:t>3</a:t>
                      </a:r>
                    </a:p>
                  </a:txBody>
                  <a:tcPr marT="36000" marB="36000" anchor="ctr" marL="91440" marR="9144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600" b="0" i="0" dirty="0">
                          <a:solidFill>
                            <a:schemeClr val="accent5">
                              <a:lumMod val="85000"/>
                              <a:lumOff val="15000"/>
                            </a:schemeClr>
                          </a:solidFill>
                          <a:latin typeface="WORK SANS LIGHT ROMAN" pitchFamily="2" charset="77"/>
                        </a:rPr>
                        <a:t>Gestiona usuarios y estaciones, y consulta reportes</a:t>
                      </a:r>
                    </a:p>
                  </a:txBody>
                  <a:tcPr marT="36000" marB="36000" anchor="ctr" marL="91440" marR="9144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77240">
                <a:extLst>
                  <a:ext uri="{0D108BD9-81ED-4DB2-BD59-A6C34878D82A}">
                    <a16:rowId xmlns:a16="http://schemas.microsoft.com/office/drawing/2014/main" val="2583589052"/>
                  </a:ext>
                </a:extLst>
                <a:tc>
                  <a:txBody>
                    <a:bodyPr/>
                    <a:lstStyle/>
                    <a:p>
                      <a:pPr algn="l"/>
                      <a:r>
                        <a:rPr lang="es-CO" sz="1600" b="1" i="0" dirty="0">
                          <a:solidFill>
                            <a:schemeClr val="accent5">
                              <a:lumMod val="85000"/>
                              <a:lumOff val="15000"/>
                            </a:schemeClr>
                          </a:solidFill>
                          <a:latin typeface="WORK SANS BOLD ROMAN" pitchFamily="2" charset="77"/>
                        </a:rPr>
                        <a:t>Superadministrador</a:t>
                      </a:r>
                    </a:p>
                  </a:txBody>
                  <a:tcPr marT="36000" marB="36000" anchor="ctr" marL="91440" marR="9144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600" b="0" i="0" dirty="0">
                          <a:solidFill>
                            <a:schemeClr val="accent5">
                              <a:lumMod val="85000"/>
                              <a:lumOff val="15000"/>
                            </a:schemeClr>
                          </a:solidFill>
                          <a:latin typeface="WORK SANS LIGHT ROMAN" pitchFamily="2" charset="77"/>
                        </a:rPr>
                        <a:t>4</a:t>
                      </a:r>
                    </a:p>
                  </a:txBody>
                  <a:tcPr marT="36000" marB="36000" anchor="ctr" marL="91440" marR="9144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600" b="0" i="0" dirty="0">
                          <a:solidFill>
                            <a:schemeClr val="accent5">
                              <a:lumMod val="85000"/>
                              <a:lumOff val="15000"/>
                            </a:schemeClr>
                          </a:solidFill>
                          <a:latin typeface="WORK SANS LIGHT ROMAN" pitchFamily="2" charset="77"/>
                        </a:rPr>
                        <a:t>Define perfiles, permisos y configuración general</a:t>
                      </a:r>
                    </a:p>
                  </a:txBody>
                  <a:tcPr marT="36000" marB="36000" anchor="ctr" marL="91440" marR="9144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9292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BB6F714C-A6B0-54AE-507A-D0700714D94B}"/>
              </a:ext>
            </a:extLst>
          </p:cNvPr>
          <p:cNvSpPr txBox="1">
            <a:spLocks/>
          </p:cNvSpPr>
          <p:nvPr/>
        </p:nvSpPr>
        <p:spPr>
          <a:xfrm>
            <a:off x="695325" y="416690"/>
            <a:ext cx="10789920" cy="527874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 BOLD ROMAN" pitchFamily="2" charset="77"/>
              </a:rPr>
              <a:t>Requisitos funcionales por módulo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F34F41D7-D1E2-1CA5-1156-215427D7E9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3148142"/>
              </p:ext>
            </p:extLst>
          </p:nvPr>
        </p:nvGraphicFramePr>
        <p:xfrm>
          <a:off x="694944" y="1234440"/>
          <a:ext cx="10789920" cy="4407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5852160"/>
                <a:gridCol w="1371600"/>
              </a:tblGrid>
              <a:tr h="384048">
                <a:extLst>
                  <a:ext uri="{0D108BD9-81ED-4DB2-BD59-A6C34878D82A}">
                    <a16:rowId xmlns:a16="http://schemas.microsoft.com/office/drawing/2014/main" val="2583589052"/>
                  </a:ext>
                </a:extLst>
                <a:tc>
                  <a:txBody>
                    <a:bodyPr/>
                    <a:lstStyle/>
                    <a:p>
                      <a:pPr algn="l"/>
                      <a:r>
                        <a:rPr lang="es-CO" sz="1400" b="1" i="0" dirty="0">
                          <a:latin typeface="WORK SANS REGULAR ROMAN" pitchFamily="2" charset="77"/>
                        </a:rPr>
                        <a:t>Módulo</a:t>
                      </a:r>
                    </a:p>
                  </a:txBody>
                  <a:tcPr marT="36000" marB="36000" anchor="ctr" marL="91440" marR="9144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D4D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400" b="1" i="0" dirty="0">
                          <a:latin typeface="WORK SANS REGULAR ROMAN" pitchFamily="2" charset="77"/>
                        </a:rPr>
                        <a:t>Perfiles</a:t>
                      </a:r>
                    </a:p>
                  </a:txBody>
                  <a:tcPr marT="36000" marB="36000" anchor="ctr" marL="91440" marR="9144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D4D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400" b="1" i="0" dirty="0">
                          <a:latin typeface="WORK SANS REGULAR ROMAN" pitchFamily="2" charset="77"/>
                        </a:rPr>
                        <a:t>Requisitos</a:t>
                      </a:r>
                    </a:p>
                  </a:txBody>
                  <a:tcPr marT="36000" marB="36000" anchor="ctr" marL="91440" marR="9144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D4D4C"/>
                    </a:solidFill>
                  </a:tcPr>
                </a:tc>
              </a:tr>
              <a:tr h="365760">
                <a:extLst>
                  <a:ext uri="{0D108BD9-81ED-4DB2-BD59-A6C34878D82A}">
                    <a16:rowId xmlns:a16="http://schemas.microsoft.com/office/drawing/2014/main" val="2583589052"/>
                  </a:ext>
                </a:extLst>
                <a:tc>
                  <a:txBody>
                    <a:bodyPr/>
                    <a:lstStyle/>
                    <a:p>
                      <a:pPr algn="l"/>
                      <a:r>
                        <a:rPr lang="es-CO" sz="1400" b="1" i="0" dirty="0">
                          <a:solidFill>
                            <a:schemeClr val="accent5">
                              <a:lumMod val="85000"/>
                              <a:lumOff val="15000"/>
                            </a:schemeClr>
                          </a:solidFill>
                          <a:latin typeface="WORK SANS BOLD ROMAN" pitchFamily="2" charset="77"/>
                        </a:rPr>
                        <a:t>Identidad y acceso</a:t>
                      </a:r>
                    </a:p>
                  </a:txBody>
                  <a:tcPr marT="36000" marB="36000" anchor="ctr" marL="91440" marR="9144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400" b="0" i="0" dirty="0">
                          <a:solidFill>
                            <a:schemeClr val="accent5">
                              <a:lumMod val="85000"/>
                              <a:lumOff val="15000"/>
                            </a:schemeClr>
                          </a:solidFill>
                          <a:latin typeface="WORK SANS LIGHT ROMAN" pitchFamily="2" charset="77"/>
                        </a:rPr>
                        <a:t>Cliente</a:t>
                      </a:r>
                    </a:p>
                  </a:txBody>
                  <a:tcPr marT="36000" marB="36000" anchor="ctr" marL="91440" marR="9144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400" b="0" i="0" dirty="0">
                          <a:solidFill>
                            <a:schemeClr val="accent5">
                              <a:lumMod val="85000"/>
                              <a:lumOff val="15000"/>
                            </a:schemeClr>
                          </a:solidFill>
                          <a:latin typeface="WORK SANS LIGHT ROMAN" pitchFamily="2" charset="77"/>
                        </a:rPr>
                        <a:t>4</a:t>
                      </a:r>
                    </a:p>
                  </a:txBody>
                  <a:tcPr marT="36000" marB="36000" anchor="ctr" marL="91440" marR="9144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65760">
                <a:extLst>
                  <a:ext uri="{0D108BD9-81ED-4DB2-BD59-A6C34878D82A}">
                    <a16:rowId xmlns:a16="http://schemas.microsoft.com/office/drawing/2014/main" val="2583589052"/>
                  </a:ext>
                </a:extLst>
                <a:tc>
                  <a:txBody>
                    <a:bodyPr/>
                    <a:lstStyle/>
                    <a:p>
                      <a:pPr algn="l"/>
                      <a:r>
                        <a:rPr lang="es-CO" sz="1400" b="1" i="0" dirty="0">
                          <a:solidFill>
                            <a:schemeClr val="accent5">
                              <a:lumMod val="85000"/>
                              <a:lumOff val="15000"/>
                            </a:schemeClr>
                          </a:solidFill>
                          <a:latin typeface="WORK SANS BOLD ROMAN" pitchFamily="2" charset="77"/>
                        </a:rPr>
                        <a:t>Gestión de usuarios</a:t>
                      </a:r>
                    </a:p>
                  </a:txBody>
                  <a:tcPr marT="36000" marB="36000" anchor="ctr" marL="91440" marR="9144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400" b="0" i="0" dirty="0">
                          <a:solidFill>
                            <a:schemeClr val="accent5">
                              <a:lumMod val="85000"/>
                              <a:lumOff val="15000"/>
                            </a:schemeClr>
                          </a:solidFill>
                          <a:latin typeface="WORK SANS LIGHT ROMAN" pitchFamily="2" charset="77"/>
                        </a:rPr>
                        <a:t>Cliente, Administrador</a:t>
                      </a:r>
                    </a:p>
                  </a:txBody>
                  <a:tcPr marT="36000" marB="36000" anchor="ctr" marL="91440" marR="9144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400" b="0" i="0" dirty="0">
                          <a:solidFill>
                            <a:schemeClr val="accent5">
                              <a:lumMod val="85000"/>
                              <a:lumOff val="15000"/>
                            </a:schemeClr>
                          </a:solidFill>
                          <a:latin typeface="WORK SANS LIGHT ROMAN" pitchFamily="2" charset="77"/>
                        </a:rPr>
                        <a:t>6</a:t>
                      </a:r>
                    </a:p>
                  </a:txBody>
                  <a:tcPr marT="36000" marB="36000" anchor="ctr" marL="91440" marR="9144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65760">
                <a:extLst>
                  <a:ext uri="{0D108BD9-81ED-4DB2-BD59-A6C34878D82A}">
                    <a16:rowId xmlns:a16="http://schemas.microsoft.com/office/drawing/2014/main" val="2583589052"/>
                  </a:ext>
                </a:extLst>
                <a:tc>
                  <a:txBody>
                    <a:bodyPr/>
                    <a:lstStyle/>
                    <a:p>
                      <a:pPr algn="l"/>
                      <a:r>
                        <a:rPr lang="es-CO" sz="1400" b="1" i="0" dirty="0">
                          <a:solidFill>
                            <a:schemeClr val="accent5">
                              <a:lumMod val="85000"/>
                              <a:lumOff val="15000"/>
                            </a:schemeClr>
                          </a:solidFill>
                          <a:latin typeface="WORK SANS BOLD ROMAN" pitchFamily="2" charset="77"/>
                        </a:rPr>
                        <a:t>Gestión de bicicletas</a:t>
                      </a:r>
                    </a:p>
                  </a:txBody>
                  <a:tcPr marT="36000" marB="36000" anchor="ctr" marL="91440" marR="9144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400" b="0" i="0" dirty="0">
                          <a:solidFill>
                            <a:schemeClr val="accent5">
                              <a:lumMod val="85000"/>
                              <a:lumOff val="15000"/>
                            </a:schemeClr>
                          </a:solidFill>
                          <a:latin typeface="WORK SANS LIGHT ROMAN" pitchFamily="2" charset="77"/>
                        </a:rPr>
                        <a:t>Cliente, Administrador, Operador</a:t>
                      </a:r>
                    </a:p>
                  </a:txBody>
                  <a:tcPr marT="36000" marB="36000" anchor="ctr" marL="91440" marR="9144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400" b="0" i="0" dirty="0">
                          <a:solidFill>
                            <a:schemeClr val="accent5">
                              <a:lumMod val="85000"/>
                              <a:lumOff val="15000"/>
                            </a:schemeClr>
                          </a:solidFill>
                          <a:latin typeface="WORK SANS LIGHT ROMAN" pitchFamily="2" charset="77"/>
                        </a:rPr>
                        <a:t>6</a:t>
                      </a:r>
                    </a:p>
                  </a:txBody>
                  <a:tcPr marT="36000" marB="36000" anchor="ctr" marL="91440" marR="9144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65760">
                <a:extLst>
                  <a:ext uri="{0D108BD9-81ED-4DB2-BD59-A6C34878D82A}">
                    <a16:rowId xmlns:a16="http://schemas.microsoft.com/office/drawing/2014/main" val="2583589052"/>
                  </a:ext>
                </a:extLst>
                <a:tc>
                  <a:txBody>
                    <a:bodyPr/>
                    <a:lstStyle/>
                    <a:p>
                      <a:pPr algn="l"/>
                      <a:r>
                        <a:rPr lang="es-CO" sz="1400" b="1" i="0" dirty="0">
                          <a:solidFill>
                            <a:schemeClr val="accent5">
                              <a:lumMod val="85000"/>
                              <a:lumOff val="15000"/>
                            </a:schemeClr>
                          </a:solidFill>
                          <a:latin typeface="WORK SANS BOLD ROMAN" pitchFamily="2" charset="77"/>
                        </a:rPr>
                        <a:t>Operaciones de alquiler</a:t>
                      </a:r>
                    </a:p>
                  </a:txBody>
                  <a:tcPr marT="36000" marB="36000" anchor="ctr" marL="91440" marR="9144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400" b="0" i="0" dirty="0">
                          <a:solidFill>
                            <a:schemeClr val="accent5">
                              <a:lumMod val="85000"/>
                              <a:lumOff val="15000"/>
                            </a:schemeClr>
                          </a:solidFill>
                          <a:latin typeface="WORK SANS LIGHT ROMAN" pitchFamily="2" charset="77"/>
                        </a:rPr>
                        <a:t>Cliente</a:t>
                      </a:r>
                    </a:p>
                  </a:txBody>
                  <a:tcPr marT="36000" marB="36000" anchor="ctr" marL="91440" marR="9144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400" b="0" i="0" dirty="0">
                          <a:solidFill>
                            <a:schemeClr val="accent5">
                              <a:lumMod val="85000"/>
                              <a:lumOff val="15000"/>
                            </a:schemeClr>
                          </a:solidFill>
                          <a:latin typeface="WORK SANS LIGHT ROMAN" pitchFamily="2" charset="77"/>
                        </a:rPr>
                        <a:t>5</a:t>
                      </a:r>
                    </a:p>
                  </a:txBody>
                  <a:tcPr marT="36000" marB="36000" anchor="ctr" marL="91440" marR="9144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65760">
                <a:extLst>
                  <a:ext uri="{0D108BD9-81ED-4DB2-BD59-A6C34878D82A}">
                    <a16:rowId xmlns:a16="http://schemas.microsoft.com/office/drawing/2014/main" val="2583589052"/>
                  </a:ext>
                </a:extLst>
                <a:tc>
                  <a:txBody>
                    <a:bodyPr/>
                    <a:lstStyle/>
                    <a:p>
                      <a:pPr algn="l"/>
                      <a:r>
                        <a:rPr lang="es-CO" sz="1400" b="1" i="0" dirty="0">
                          <a:solidFill>
                            <a:schemeClr val="accent5">
                              <a:lumMod val="85000"/>
                              <a:lumOff val="15000"/>
                            </a:schemeClr>
                          </a:solidFill>
                          <a:latin typeface="WORK SANS BOLD ROMAN" pitchFamily="2" charset="77"/>
                        </a:rPr>
                        <a:t>Pagos</a:t>
                      </a:r>
                    </a:p>
                  </a:txBody>
                  <a:tcPr marT="36000" marB="36000" anchor="ctr" marL="91440" marR="9144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400" b="0" i="0" dirty="0">
                          <a:solidFill>
                            <a:schemeClr val="accent5">
                              <a:lumMod val="85000"/>
                              <a:lumOff val="15000"/>
                            </a:schemeClr>
                          </a:solidFill>
                          <a:latin typeface="WORK SANS LIGHT ROMAN" pitchFamily="2" charset="77"/>
                        </a:rPr>
                        <a:t>Cliente</a:t>
                      </a:r>
                    </a:p>
                  </a:txBody>
                  <a:tcPr marT="36000" marB="36000" anchor="ctr" marL="91440" marR="9144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400" b="0" i="0" dirty="0">
                          <a:solidFill>
                            <a:schemeClr val="accent5">
                              <a:lumMod val="85000"/>
                              <a:lumOff val="15000"/>
                            </a:schemeClr>
                          </a:solidFill>
                          <a:latin typeface="WORK SANS LIGHT ROMAN" pitchFamily="2" charset="77"/>
                        </a:rPr>
                        <a:t>3</a:t>
                      </a:r>
                    </a:p>
                  </a:txBody>
                  <a:tcPr marT="36000" marB="36000" anchor="ctr" marL="91440" marR="9144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65760">
                <a:extLst>
                  <a:ext uri="{0D108BD9-81ED-4DB2-BD59-A6C34878D82A}">
                    <a16:rowId xmlns:a16="http://schemas.microsoft.com/office/drawing/2014/main" val="2583589052"/>
                  </a:ext>
                </a:extLst>
                <a:tc>
                  <a:txBody>
                    <a:bodyPr/>
                    <a:lstStyle/>
                    <a:p>
                      <a:pPr algn="l"/>
                      <a:r>
                        <a:rPr lang="es-CO" sz="1400" b="1" i="0" dirty="0">
                          <a:solidFill>
                            <a:schemeClr val="accent5">
                              <a:lumMod val="85000"/>
                              <a:lumOff val="15000"/>
                            </a:schemeClr>
                          </a:solidFill>
                          <a:latin typeface="WORK SANS BOLD ROMAN" pitchFamily="2" charset="77"/>
                        </a:rPr>
                        <a:t>Historial</a:t>
                      </a:r>
                    </a:p>
                  </a:txBody>
                  <a:tcPr marT="36000" marB="36000" anchor="ctr" marL="91440" marR="9144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400" b="0" i="0" dirty="0">
                          <a:solidFill>
                            <a:schemeClr val="accent5">
                              <a:lumMod val="85000"/>
                              <a:lumOff val="15000"/>
                            </a:schemeClr>
                          </a:solidFill>
                          <a:latin typeface="WORK SANS LIGHT ROMAN" pitchFamily="2" charset="77"/>
                        </a:rPr>
                        <a:t>Cliente</a:t>
                      </a:r>
                    </a:p>
                  </a:txBody>
                  <a:tcPr marT="36000" marB="36000" anchor="ctr" marL="91440" marR="9144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400" b="0" i="0" dirty="0">
                          <a:solidFill>
                            <a:schemeClr val="accent5">
                              <a:lumMod val="85000"/>
                              <a:lumOff val="15000"/>
                            </a:schemeClr>
                          </a:solidFill>
                          <a:latin typeface="WORK SANS LIGHT ROMAN" pitchFamily="2" charset="77"/>
                        </a:rPr>
                        <a:t>1</a:t>
                      </a:r>
                    </a:p>
                  </a:txBody>
                  <a:tcPr marT="36000" marB="36000" anchor="ctr" marL="91440" marR="9144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65760">
                <a:extLst>
                  <a:ext uri="{0D108BD9-81ED-4DB2-BD59-A6C34878D82A}">
                    <a16:rowId xmlns:a16="http://schemas.microsoft.com/office/drawing/2014/main" val="2583589052"/>
                  </a:ext>
                </a:extLst>
                <a:tc>
                  <a:txBody>
                    <a:bodyPr/>
                    <a:lstStyle/>
                    <a:p>
                      <a:pPr algn="l"/>
                      <a:r>
                        <a:rPr lang="es-CO" sz="1400" b="1" i="0" dirty="0">
                          <a:solidFill>
                            <a:schemeClr val="accent5">
                              <a:lumMod val="85000"/>
                              <a:lumOff val="15000"/>
                            </a:schemeClr>
                          </a:solidFill>
                          <a:latin typeface="WORK SANS BOLD ROMAN" pitchFamily="2" charset="77"/>
                        </a:rPr>
                        <a:t>Gestión de estaciones</a:t>
                      </a:r>
                    </a:p>
                  </a:txBody>
                  <a:tcPr marT="36000" marB="36000" anchor="ctr" marL="91440" marR="9144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400" b="0" i="0" dirty="0">
                          <a:solidFill>
                            <a:schemeClr val="accent5">
                              <a:lumMod val="85000"/>
                              <a:lumOff val="15000"/>
                            </a:schemeClr>
                          </a:solidFill>
                          <a:latin typeface="WORK SANS LIGHT ROMAN" pitchFamily="2" charset="77"/>
                        </a:rPr>
                        <a:t>Administrador, Operador</a:t>
                      </a:r>
                    </a:p>
                  </a:txBody>
                  <a:tcPr marT="36000" marB="36000" anchor="ctr" marL="91440" marR="9144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400" b="0" i="0" dirty="0">
                          <a:solidFill>
                            <a:schemeClr val="accent5">
                              <a:lumMod val="85000"/>
                              <a:lumOff val="15000"/>
                            </a:schemeClr>
                          </a:solidFill>
                          <a:latin typeface="WORK SANS LIGHT ROMAN" pitchFamily="2" charset="77"/>
                        </a:rPr>
                        <a:t>3</a:t>
                      </a:r>
                    </a:p>
                  </a:txBody>
                  <a:tcPr marT="36000" marB="36000" anchor="ctr" marL="91440" marR="9144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65760">
                <a:extLst>
                  <a:ext uri="{0D108BD9-81ED-4DB2-BD59-A6C34878D82A}">
                    <a16:rowId xmlns:a16="http://schemas.microsoft.com/office/drawing/2014/main" val="2583589052"/>
                  </a:ext>
                </a:extLst>
                <a:tc>
                  <a:txBody>
                    <a:bodyPr/>
                    <a:lstStyle/>
                    <a:p>
                      <a:pPr algn="l"/>
                      <a:r>
                        <a:rPr lang="es-CO" sz="1400" b="1" i="0" dirty="0">
                          <a:solidFill>
                            <a:schemeClr val="accent5">
                              <a:lumMod val="85000"/>
                              <a:lumOff val="15000"/>
                            </a:schemeClr>
                          </a:solidFill>
                          <a:latin typeface="WORK SANS BOLD ROMAN" pitchFamily="2" charset="77"/>
                        </a:rPr>
                        <a:t>Reportes y analítica</a:t>
                      </a:r>
                    </a:p>
                  </a:txBody>
                  <a:tcPr marT="36000" marB="36000" anchor="ctr" marL="91440" marR="9144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400" b="0" i="0" dirty="0">
                          <a:solidFill>
                            <a:schemeClr val="accent5">
                              <a:lumMod val="85000"/>
                              <a:lumOff val="15000"/>
                            </a:schemeClr>
                          </a:solidFill>
                          <a:latin typeface="WORK SANS LIGHT ROMAN" pitchFamily="2" charset="77"/>
                        </a:rPr>
                        <a:t>Administrador</a:t>
                      </a:r>
                    </a:p>
                  </a:txBody>
                  <a:tcPr marT="36000" marB="36000" anchor="ctr" marL="91440" marR="9144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400" b="0" i="0" dirty="0">
                          <a:solidFill>
                            <a:schemeClr val="accent5">
                              <a:lumMod val="85000"/>
                              <a:lumOff val="15000"/>
                            </a:schemeClr>
                          </a:solidFill>
                          <a:latin typeface="WORK SANS LIGHT ROMAN" pitchFamily="2" charset="77"/>
                        </a:rPr>
                        <a:t>2</a:t>
                      </a:r>
                    </a:p>
                  </a:txBody>
                  <a:tcPr marT="36000" marB="36000" anchor="ctr" marL="91440" marR="9144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65760">
                <a:extLst>
                  <a:ext uri="{0D108BD9-81ED-4DB2-BD59-A6C34878D82A}">
                    <a16:rowId xmlns:a16="http://schemas.microsoft.com/office/drawing/2014/main" val="2583589052"/>
                  </a:ext>
                </a:extLst>
                <a:tc>
                  <a:txBody>
                    <a:bodyPr/>
                    <a:lstStyle/>
                    <a:p>
                      <a:pPr algn="l"/>
                      <a:r>
                        <a:rPr lang="es-CO" sz="1400" b="1" i="0" dirty="0">
                          <a:solidFill>
                            <a:schemeClr val="accent5">
                              <a:lumMod val="85000"/>
                              <a:lumOff val="15000"/>
                            </a:schemeClr>
                          </a:solidFill>
                          <a:latin typeface="WORK SANS BOLD ROMAN" pitchFamily="2" charset="77"/>
                        </a:rPr>
                        <a:t>Energía</a:t>
                      </a:r>
                    </a:p>
                  </a:txBody>
                  <a:tcPr marT="36000" marB="36000" anchor="ctr" marL="91440" marR="9144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400" b="0" i="0" dirty="0">
                          <a:solidFill>
                            <a:schemeClr val="accent5">
                              <a:lumMod val="85000"/>
                              <a:lumOff val="15000"/>
                            </a:schemeClr>
                          </a:solidFill>
                          <a:latin typeface="WORK SANS LIGHT ROMAN" pitchFamily="2" charset="77"/>
                        </a:rPr>
                        <a:t>Operador, Administrador, Superadministrador</a:t>
                      </a:r>
                    </a:p>
                  </a:txBody>
                  <a:tcPr marT="36000" marB="36000" anchor="ctr" marL="91440" marR="9144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400" b="0" i="0" dirty="0">
                          <a:solidFill>
                            <a:schemeClr val="accent5">
                              <a:lumMod val="85000"/>
                              <a:lumOff val="15000"/>
                            </a:schemeClr>
                          </a:solidFill>
                          <a:latin typeface="WORK SANS LIGHT ROMAN" pitchFamily="2" charset="77"/>
                        </a:rPr>
                        <a:t>6</a:t>
                      </a:r>
                    </a:p>
                  </a:txBody>
                  <a:tcPr marT="36000" marB="36000" anchor="ctr" marL="91440" marR="9144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65760">
                <a:extLst>
                  <a:ext uri="{0D108BD9-81ED-4DB2-BD59-A6C34878D82A}">
                    <a16:rowId xmlns:a16="http://schemas.microsoft.com/office/drawing/2014/main" val="2583589052"/>
                  </a:ext>
                </a:extLst>
                <a:tc>
                  <a:txBody>
                    <a:bodyPr/>
                    <a:lstStyle/>
                    <a:p>
                      <a:pPr algn="l"/>
                      <a:r>
                        <a:rPr lang="es-CO" sz="1400" b="1" i="0" dirty="0">
                          <a:solidFill>
                            <a:schemeClr val="accent5">
                              <a:lumMod val="85000"/>
                              <a:lumOff val="15000"/>
                            </a:schemeClr>
                          </a:solidFill>
                          <a:latin typeface="WORK SANS BOLD ROMAN" pitchFamily="2" charset="77"/>
                        </a:rPr>
                        <a:t>Mantenimiento</a:t>
                      </a:r>
                    </a:p>
                  </a:txBody>
                  <a:tcPr marT="36000" marB="36000" anchor="ctr" marL="91440" marR="9144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400" b="0" i="0" dirty="0">
                          <a:solidFill>
                            <a:schemeClr val="accent5">
                              <a:lumMod val="85000"/>
                              <a:lumOff val="15000"/>
                            </a:schemeClr>
                          </a:solidFill>
                          <a:latin typeface="WORK SANS LIGHT ROMAN" pitchFamily="2" charset="77"/>
                        </a:rPr>
                        <a:t>Operador</a:t>
                      </a:r>
                    </a:p>
                  </a:txBody>
                  <a:tcPr marT="36000" marB="36000" anchor="ctr" marL="91440" marR="9144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400" b="0" i="0" dirty="0">
                          <a:solidFill>
                            <a:schemeClr val="accent5">
                              <a:lumMod val="85000"/>
                              <a:lumOff val="15000"/>
                            </a:schemeClr>
                          </a:solidFill>
                          <a:latin typeface="WORK SANS LIGHT ROMAN" pitchFamily="2" charset="77"/>
                        </a:rPr>
                        <a:t>4</a:t>
                      </a:r>
                    </a:p>
                  </a:txBody>
                  <a:tcPr marT="36000" marB="36000" anchor="ctr" marL="91440" marR="9144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65760">
                <a:extLst>
                  <a:ext uri="{0D108BD9-81ED-4DB2-BD59-A6C34878D82A}">
                    <a16:rowId xmlns:a16="http://schemas.microsoft.com/office/drawing/2014/main" val="2583589052"/>
                  </a:ext>
                </a:extLst>
                <a:tc>
                  <a:txBody>
                    <a:bodyPr/>
                    <a:lstStyle/>
                    <a:p>
                      <a:pPr algn="l"/>
                      <a:r>
                        <a:rPr lang="es-CO" sz="1400" b="1" i="0" dirty="0">
                          <a:solidFill>
                            <a:schemeClr val="accent5">
                              <a:lumMod val="85000"/>
                              <a:lumOff val="15000"/>
                            </a:schemeClr>
                          </a:solidFill>
                          <a:latin typeface="WORK SANS BOLD ROMAN" pitchFamily="2" charset="77"/>
                        </a:rPr>
                        <a:t>Administración del sistema</a:t>
                      </a:r>
                    </a:p>
                  </a:txBody>
                  <a:tcPr marT="36000" marB="36000" anchor="ctr" marL="91440" marR="9144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400" b="0" i="0" dirty="0">
                          <a:solidFill>
                            <a:schemeClr val="accent5">
                              <a:lumMod val="85000"/>
                              <a:lumOff val="15000"/>
                            </a:schemeClr>
                          </a:solidFill>
                          <a:latin typeface="WORK SANS LIGHT ROMAN" pitchFamily="2" charset="77"/>
                        </a:rPr>
                        <a:t>Superadministrador</a:t>
                      </a:r>
                    </a:p>
                  </a:txBody>
                  <a:tcPr marT="36000" marB="36000" anchor="ctr" marL="91440" marR="9144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400" b="0" i="0" dirty="0">
                          <a:solidFill>
                            <a:schemeClr val="accent5">
                              <a:lumMod val="85000"/>
                              <a:lumOff val="15000"/>
                            </a:schemeClr>
                          </a:solidFill>
                          <a:latin typeface="WORK SANS LIGHT ROMAN" pitchFamily="2" charset="77"/>
                        </a:rPr>
                        <a:t>4</a:t>
                      </a:r>
                    </a:p>
                  </a:txBody>
                  <a:tcPr marT="36000" marB="36000" anchor="ctr" marL="91440" marR="9144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" name="Nota de la tabla"/>
          <p:cNvSpPr txBox="1"/>
          <p:nvPr/>
        </p:nvSpPr>
        <p:spPr>
          <a:xfrm>
            <a:off x="694944" y="589788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dirty="0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Total: 44 requisitos funcionales. La matriz incluye además 17 requisitos no funcionales y 44 reglas de negocio.</a:t>
            </a:r>
          </a:p>
        </p:txBody>
      </p:sp>
    </p:spTree>
    <p:extLst>
      <p:ext uri="{BB962C8B-B14F-4D97-AF65-F5344CB8AC3E}">
        <p14:creationId xmlns:p14="http://schemas.microsoft.com/office/powerpoint/2010/main" val="2269292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CE75F1-F343-8856-BC69-4BB6B82BF3E4}"/>
              </a:ext>
            </a:extLst>
          </p:cNvPr>
          <p:cNvSpPr txBox="1">
            <a:spLocks/>
          </p:cNvSpPr>
          <p:nvPr/>
        </p:nvSpPr>
        <p:spPr>
          <a:xfrm>
            <a:off x="695325" y="944563"/>
            <a:ext cx="10789920" cy="402295"/>
          </a:xfrm>
          <a:prstGeom prst="rect">
            <a:avLst/>
          </a:prstGeom>
          <a:ln>
            <a:noFill/>
          </a:ln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3600" b="1" u="none" strike="noStrike" kern="1200" cap="none" spc="0" normalizeH="0" baseline="0" noProof="0" dirty="0">
                <a:ln>
                  <a:noFill/>
                </a:ln>
                <a:solidFill>
                  <a:srgbClr val="4D4D4C"/>
                </a:solidFill>
                <a:effectLst/>
                <a:uLnTx/>
                <a:uFillTx/>
                <a:latin typeface="WORK SANS BOLD ROMAN" pitchFamily="2" charset="77"/>
              </a:rPr>
              <a:t>Modelo entidad-relación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6C31FC2-6C63-0CB9-C78D-1723D5E9DD66}"/>
              </a:ext>
            </a:extLst>
          </p:cNvPr>
          <p:cNvSpPr txBox="1"/>
          <p:nvPr/>
        </p:nvSpPr>
        <p:spPr>
          <a:xfrm>
            <a:off x="7635240" y="1737360"/>
            <a:ext cx="3858768" cy="36933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  <a:buNone/>
            </a:pPr>
            <a:r>
              <a:rPr lang="es-CO" sz="1600" dirty="0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Muestra qué información maneja el sistema y cómo se relaciona.</a:t>
            </a:r>
          </a:p>
          <a:p>
            <a:pPr marL="285750" indent="-285750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/>
              <a:buChar char="•"/>
            </a:pPr>
            <a:r>
              <a:rPr lang="es-CO" sz="1600" dirty="0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Entidades agrupadas por módulo, con un color para cada uno.</a:t>
            </a:r>
          </a:p>
          <a:p>
            <a:pPr marL="285750" indent="-285750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/>
              <a:buChar char="•"/>
            </a:pPr>
            <a:r>
              <a:rPr lang="es-CO" sz="1600" dirty="0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Cada relación indica su cardinalidad: uno o muchos.</a:t>
            </a:r>
          </a:p>
          <a:p>
            <a:pPr marL="285750" indent="-285750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/>
              <a:buChar char="•"/>
            </a:pPr>
            <a:r>
              <a:rPr lang="es-CO" sz="1600" dirty="0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Un usuario tiene un solo perfil y varios alquileres.</a:t>
            </a:r>
          </a:p>
          <a:p>
            <a:pPr marL="285750" indent="-285750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/>
              <a:buChar char="•"/>
            </a:pPr>
            <a:r>
              <a:rPr lang="es-CO" sz="1600" dirty="0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Una bicicleta tiene instalada una sola batería.</a:t>
            </a:r>
          </a:p>
        </p:txBody>
      </p:sp>
      <p:pic>
        <p:nvPicPr>
          <p:cNvPr id="4" name="Picture 3" descr="Diagrama entidad-relación del eBike Management System: entidades por módulo y relaciones con su cardinalid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554480"/>
            <a:ext cx="6669248" cy="4846320"/>
          </a:xfrm>
          <a:prstGeom prst="rect">
            <a:avLst/>
          </a:prstGeom>
          <a:ln w="9525">
            <a:solidFill>
              <a:srgbClr val="C8C8C8"/>
            </a:solidFill>
          </a:ln>
        </p:spPr>
      </p:pic>
    </p:spTree>
    <p:extLst>
      <p:ext uri="{BB962C8B-B14F-4D97-AF65-F5344CB8AC3E}">
        <p14:creationId xmlns:p14="http://schemas.microsoft.com/office/powerpoint/2010/main" val="458058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CE75F1-F343-8856-BC69-4BB6B82BF3E4}"/>
              </a:ext>
            </a:extLst>
          </p:cNvPr>
          <p:cNvSpPr txBox="1">
            <a:spLocks/>
          </p:cNvSpPr>
          <p:nvPr/>
        </p:nvSpPr>
        <p:spPr>
          <a:xfrm>
            <a:off x="695325" y="944563"/>
            <a:ext cx="10789920" cy="402295"/>
          </a:xfrm>
          <a:prstGeom prst="rect">
            <a:avLst/>
          </a:prstGeom>
          <a:ln>
            <a:noFill/>
          </a:ln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3600" b="1" u="none" strike="noStrike" kern="1200" cap="none" spc="0" normalizeH="0" baseline="0" noProof="0" dirty="0">
                <a:ln>
                  <a:noFill/>
                </a:ln>
                <a:solidFill>
                  <a:srgbClr val="4D4D4C"/>
                </a:solidFill>
                <a:effectLst/>
                <a:uLnTx/>
                <a:uFillTx/>
                <a:latin typeface="WORK SANS BOLD ROMAN" pitchFamily="2" charset="77"/>
              </a:rPr>
              <a:t>Modelo relacional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6C31FC2-6C63-0CB9-C78D-1723D5E9DD66}"/>
              </a:ext>
            </a:extLst>
          </p:cNvPr>
          <p:cNvSpPr txBox="1"/>
          <p:nvPr/>
        </p:nvSpPr>
        <p:spPr>
          <a:xfrm>
            <a:off x="8229600" y="1737360"/>
            <a:ext cx="3264408" cy="36933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  <a:buNone/>
            </a:pPr>
            <a:r>
              <a:rPr lang="es-CO" sz="1600" dirty="0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17 tablas en tercera forma normal.</a:t>
            </a:r>
          </a:p>
          <a:p>
            <a:pPr marL="285750" indent="-285750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/>
              <a:buChar char="•"/>
            </a:pPr>
            <a:r>
              <a:rPr lang="es-CO" sz="1600" dirty="0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Llaves primarias y foráneas en cada tabla.</a:t>
            </a:r>
          </a:p>
          <a:p>
            <a:pPr marL="285750" indent="-285750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/>
              <a:buChar char="•"/>
            </a:pPr>
            <a:r>
              <a:rPr lang="es-CO" sz="1600" dirty="0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Sin eliminación en cascada: el historial se conserva.</a:t>
            </a:r>
          </a:p>
          <a:p>
            <a:pPr marL="285750" indent="-285750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/>
              <a:buChar char="•"/>
            </a:pPr>
            <a:r>
              <a:rPr lang="es-CO" sz="1600" dirty="0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Una bicicleta no puede tener dos alquileres activos.</a:t>
            </a:r>
          </a:p>
        </p:txBody>
      </p:sp>
      <p:pic>
        <p:nvPicPr>
          <p:cNvPr id="4" name="Picture 3" descr="Modelo relacional del eBike Management System con 17 tablas, llaves primarias y foráneas en notación pata de gall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554480"/>
            <a:ext cx="7339396" cy="4754880"/>
          </a:xfrm>
          <a:prstGeom prst="rect">
            <a:avLst/>
          </a:prstGeom>
          <a:ln w="9525">
            <a:solidFill>
              <a:srgbClr val="C8C8C8"/>
            </a:solidFill>
          </a:ln>
        </p:spPr>
      </p:pic>
    </p:spTree>
    <p:extLst>
      <p:ext uri="{BB962C8B-B14F-4D97-AF65-F5344CB8AC3E}">
        <p14:creationId xmlns:p14="http://schemas.microsoft.com/office/powerpoint/2010/main" val="458058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CE75F1-F343-8856-BC69-4BB6B82BF3E4}"/>
              </a:ext>
            </a:extLst>
          </p:cNvPr>
          <p:cNvSpPr txBox="1">
            <a:spLocks/>
          </p:cNvSpPr>
          <p:nvPr/>
        </p:nvSpPr>
        <p:spPr>
          <a:xfrm>
            <a:off x="695325" y="944563"/>
            <a:ext cx="10789920" cy="402295"/>
          </a:xfrm>
          <a:prstGeom prst="rect">
            <a:avLst/>
          </a:prstGeom>
          <a:ln>
            <a:noFill/>
          </a:ln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3600" b="1" u="none" strike="noStrike" kern="1200" cap="none" spc="0" normalizeH="0" baseline="0" noProof="0" dirty="0">
                <a:ln>
                  <a:noFill/>
                </a:ln>
                <a:solidFill>
                  <a:srgbClr val="4D4D4C"/>
                </a:solidFill>
                <a:effectLst/>
                <a:uLnTx/>
                <a:uFillTx/>
                <a:latin typeface="WORK SANS BOLD ROMAN" pitchFamily="2" charset="77"/>
              </a:rPr>
              <a:t>Base de datos en MySQL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6C31FC2-6C63-0CB9-C78D-1723D5E9DD66}"/>
              </a:ext>
            </a:extLst>
          </p:cNvPr>
          <p:cNvSpPr txBox="1"/>
          <p:nvPr/>
        </p:nvSpPr>
        <p:spPr>
          <a:xfrm>
            <a:off x="694944" y="1828800"/>
            <a:ext cx="4846320" cy="36933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  <a:buNone/>
            </a:pPr>
            <a:r>
              <a:rPr lang="es-CO" sz="2200" b="1" dirty="0">
                <a:solidFill>
                  <a:srgbClr val="38AA00"/>
                </a:solidFill>
                <a:latin typeface="WORK SANS BOLD ROMAN" pitchFamily="2" charset="77"/>
              </a:rPr>
              <a:t>Qué incluye el script</a:t>
            </a:r>
          </a:p>
          <a:p>
            <a:pPr marL="285750" indent="-285750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s-CO" sz="1800" dirty="0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17 tablas y 2 vistas.</a:t>
            </a:r>
          </a:p>
          <a:p>
            <a:pPr marL="285750" indent="-285750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s-CO" sz="1800" dirty="0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Datos base: 4 perfiles, 12 permisos y la tarifa estándar.</a:t>
            </a:r>
          </a:p>
          <a:p>
            <a:pPr marL="285750" indent="-285750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s-CO" sz="1800" dirty="0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Datos de ejemplo para probar.</a:t>
            </a:r>
          </a:p>
          <a:p>
            <a:pPr marL="285750" indent="-285750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s-CO" sz="1800" dirty="0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Duración y costo del alquiler se calculan solos: 1.000 de base más 250 por minuto.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9A9B9AD-98C5-3207-38A3-E41FED9161AC}"/>
              </a:ext>
            </a:extLst>
          </p:cNvPr>
          <p:cNvSpPr txBox="1"/>
          <p:nvPr/>
        </p:nvSpPr>
        <p:spPr>
          <a:xfrm>
            <a:off x="6099048" y="1828800"/>
            <a:ext cx="5394960" cy="32932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  <a:buNone/>
            </a:pPr>
            <a:r>
              <a:rPr lang="es-CO" sz="2200" b="1" dirty="0">
                <a:solidFill>
                  <a:srgbClr val="38AA00"/>
                </a:solidFill>
                <a:latin typeface="WORK SANS BOLD ROMAN" pitchFamily="2" charset="77"/>
              </a:rPr>
              <a:t>Reglas que la base rechaza</a:t>
            </a:r>
          </a:p>
          <a:p>
            <a:pPr marL="285750" indent="-285750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s-CO" sz="1800" dirty="0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Correo repetido.</a:t>
            </a:r>
          </a:p>
          <a:p>
            <a:pPr marL="285750" indent="-285750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s-CO" sz="1800" dirty="0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Dos alquileres activos de una misma bicicleta.</a:t>
            </a:r>
          </a:p>
          <a:p>
            <a:pPr marL="285750" indent="-285750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s-CO" sz="1800" dirty="0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Fin del alquiler anterior al inicio.</a:t>
            </a:r>
          </a:p>
          <a:p>
            <a:pPr marL="285750" indent="-285750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s-CO" sz="1800" dirty="0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Pago con un medio que no es del usuario.</a:t>
            </a:r>
          </a:p>
          <a:p>
            <a:pPr marL="285750" indent="-285750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s-CO" sz="1800" dirty="0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Batería con carga fuera de 0 a 100 %.</a:t>
            </a:r>
          </a:p>
          <a:p>
            <a:pPr marL="285750" indent="-285750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s-CO" sz="1800" dirty="0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Estación con código repetido.</a:t>
            </a:r>
          </a:p>
          <a:p>
            <a:pPr marL="285750" indent="-285750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s-CO" sz="1800" dirty="0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Estados que no existen.</a:t>
            </a:r>
          </a:p>
        </p:txBody>
      </p:sp>
    </p:spTree>
    <p:extLst>
      <p:ext uri="{BB962C8B-B14F-4D97-AF65-F5344CB8AC3E}">
        <p14:creationId xmlns:p14="http://schemas.microsoft.com/office/powerpoint/2010/main" val="458058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CE75F1-F343-8856-BC69-4BB6B82BF3E4}"/>
              </a:ext>
            </a:extLst>
          </p:cNvPr>
          <p:cNvSpPr txBox="1">
            <a:spLocks/>
          </p:cNvSpPr>
          <p:nvPr/>
        </p:nvSpPr>
        <p:spPr>
          <a:xfrm>
            <a:off x="695325" y="944563"/>
            <a:ext cx="10789920" cy="402295"/>
          </a:xfrm>
          <a:prstGeom prst="rect">
            <a:avLst/>
          </a:prstGeom>
          <a:ln>
            <a:noFill/>
          </a:ln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3600" b="1" u="none" strike="noStrike" kern="1200" cap="none" spc="0" normalizeH="0" baseline="0" noProof="0" dirty="0">
                <a:ln>
                  <a:noFill/>
                </a:ln>
                <a:solidFill>
                  <a:srgbClr val="4D4D4C"/>
                </a:solidFill>
                <a:effectLst/>
                <a:uLnTx/>
                <a:uFillTx/>
                <a:latin typeface="WORK SANS BOLD ROMAN" pitchFamily="2" charset="77"/>
              </a:rPr>
              <a:t>Front-end: vista principal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6C31FC2-6C63-0CB9-C78D-1723D5E9DD66}"/>
              </a:ext>
            </a:extLst>
          </p:cNvPr>
          <p:cNvSpPr txBox="1"/>
          <p:nvPr/>
        </p:nvSpPr>
        <p:spPr>
          <a:xfrm>
            <a:off x="694944" y="1737360"/>
            <a:ext cx="4114800" cy="36933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  <a:buNone/>
            </a:pPr>
            <a:r>
              <a:rPr lang="es-CO" sz="1600" dirty="0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Hecho solo con HTML y CSS.</a:t>
            </a:r>
          </a:p>
          <a:p>
            <a:pPr marL="285750" indent="-285750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/>
              <a:buChar char="•"/>
            </a:pPr>
            <a:r>
              <a:rPr lang="es-CO" sz="1600" dirty="0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Muestra las bicicletas disponibles con su batería.</a:t>
            </a:r>
          </a:p>
          <a:p>
            <a:pPr marL="285750" indent="-285750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/>
              <a:buChar char="•"/>
            </a:pPr>
            <a:r>
              <a:rPr lang="es-CO" sz="1600" dirty="0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Explica el alquiler en cuatro pasos y la tarifa.</a:t>
            </a:r>
          </a:p>
          <a:p>
            <a:pPr marL="285750" indent="-285750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/>
              <a:buChar char="•"/>
            </a:pPr>
            <a:r>
              <a:rPr lang="es-CO" sz="1600" dirty="0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Lleva a crear cuenta o ingresar.</a:t>
            </a:r>
          </a:p>
          <a:p>
            <a:pPr marL="285750" indent="-285750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/>
              <a:buChar char="•"/>
            </a:pPr>
            <a:r>
              <a:rPr lang="es-CO" sz="1600" dirty="0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Se adapta al celular.</a:t>
            </a:r>
          </a:p>
        </p:txBody>
      </p:sp>
      <p:pic>
        <p:nvPicPr>
          <p:cNvPr id="4" name="Picture 3" descr="Vista principal de eBike EMS: titular, tablero de bicicletas disponibles con nivel de batería y botones para crear cuen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4648" y="1737360"/>
            <a:ext cx="6309360" cy="3943350"/>
          </a:xfrm>
          <a:prstGeom prst="rect">
            <a:avLst/>
          </a:prstGeom>
          <a:ln w="9525">
            <a:solidFill>
              <a:srgbClr val="C8C8C8"/>
            </a:solidFill>
          </a:ln>
        </p:spPr>
      </p:pic>
    </p:spTree>
    <p:extLst>
      <p:ext uri="{BB962C8B-B14F-4D97-AF65-F5344CB8AC3E}">
        <p14:creationId xmlns:p14="http://schemas.microsoft.com/office/powerpoint/2010/main" val="4580581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CE75F1-F343-8856-BC69-4BB6B82BF3E4}"/>
              </a:ext>
            </a:extLst>
          </p:cNvPr>
          <p:cNvSpPr txBox="1">
            <a:spLocks/>
          </p:cNvSpPr>
          <p:nvPr/>
        </p:nvSpPr>
        <p:spPr>
          <a:xfrm>
            <a:off x="695325" y="944563"/>
            <a:ext cx="10789920" cy="402295"/>
          </a:xfrm>
          <a:prstGeom prst="rect">
            <a:avLst/>
          </a:prstGeom>
          <a:ln>
            <a:noFill/>
          </a:ln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3600" b="1" u="none" strike="noStrike" kern="1200" cap="none" spc="0" normalizeH="0" baseline="0" noProof="0" dirty="0">
                <a:ln>
                  <a:noFill/>
                </a:ln>
                <a:solidFill>
                  <a:srgbClr val="4D4D4C"/>
                </a:solidFill>
                <a:effectLst/>
                <a:uLnTx/>
                <a:uFillTx/>
                <a:latin typeface="WORK SANS BOLD ROMAN" pitchFamily="2" charset="77"/>
              </a:rPr>
              <a:t>Una vista por perfil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6C31FC2-6C63-0CB9-C78D-1723D5E9DD66}"/>
              </a:ext>
            </a:extLst>
          </p:cNvPr>
          <p:cNvSpPr txBox="1"/>
          <p:nvPr/>
        </p:nvSpPr>
        <p:spPr>
          <a:xfrm>
            <a:off x="694944" y="1737360"/>
            <a:ext cx="3749039" cy="36933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/>
              <a:buChar char="•"/>
            </a:pPr>
            <a:r>
              <a:rPr lang="es-CO" sz="1600" dirty="0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El menú lateral muestra solo lo que ese perfil puede hacer.</a:t>
            </a:r>
          </a:p>
          <a:p>
            <a:pPr marL="285750" indent="-285750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/>
              <a:buChar char="•"/>
            </a:pPr>
            <a:r>
              <a:rPr lang="es-CO" sz="1600" dirty="0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Los estados usan color y texto, no solo color.</a:t>
            </a:r>
          </a:p>
          <a:p>
            <a:pPr marL="285750" indent="-285750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/>
              <a:buChar char="•"/>
            </a:pPr>
            <a:r>
              <a:rPr lang="es-CO" sz="1600" dirty="0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Los datos son los del script de la base de datos.</a:t>
            </a:r>
          </a:p>
          <a:p>
            <a:pPr marL="285750" indent="-285750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/>
              <a:buChar char="•"/>
            </a:pPr>
            <a:r>
              <a:rPr lang="es-CO" sz="1600" dirty="0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Formularios con validación del navegador.</a:t>
            </a:r>
          </a:p>
        </p:txBody>
      </p:sp>
      <p:pic>
        <p:nvPicPr>
          <p:cNvPr id="4" name="Picture 3" descr="Vista del cliente: alquiler en curso, bicicletas disponibles, historial y pago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600200"/>
            <a:ext cx="3246120" cy="2028825"/>
          </a:xfrm>
          <a:prstGeom prst="rect">
            <a:avLst/>
          </a:prstGeom>
          <a:ln w="9525">
            <a:solidFill>
              <a:srgbClr val="C8C8C8"/>
            </a:solidFill>
          </a:ln>
        </p:spPr>
      </p:pic>
      <p:sp>
        <p:nvSpPr>
          <p:cNvPr id="5" name="Pie Cliente"/>
          <p:cNvSpPr txBox="1"/>
          <p:nvPr/>
        </p:nvSpPr>
        <p:spPr>
          <a:xfrm>
            <a:off x="4846320" y="3675888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1" dirty="0">
                <a:solidFill>
                  <a:srgbClr val="4D4D4C"/>
                </a:solidFill>
                <a:latin typeface="WORK SANS BOLD ROMAN" pitchFamily="2" charset="77"/>
              </a:rPr>
              <a:t>Cliente</a:t>
            </a:r>
          </a:p>
        </p:txBody>
      </p:sp>
      <p:pic>
        <p:nvPicPr>
          <p:cNvPr id="6" name="Picture 5" descr="Vista del operador: flota, baterías con alertas y mantenimien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888" y="1600200"/>
            <a:ext cx="3246120" cy="2028825"/>
          </a:xfrm>
          <a:prstGeom prst="rect">
            <a:avLst/>
          </a:prstGeom>
          <a:ln w="9525">
            <a:solidFill>
              <a:srgbClr val="C8C8C8"/>
            </a:solidFill>
          </a:ln>
        </p:spPr>
      </p:pic>
      <p:sp>
        <p:nvSpPr>
          <p:cNvPr id="7" name="Pie Operador"/>
          <p:cNvSpPr txBox="1"/>
          <p:nvPr/>
        </p:nvSpPr>
        <p:spPr>
          <a:xfrm>
            <a:off x="8247888" y="3675888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1" dirty="0">
                <a:solidFill>
                  <a:srgbClr val="4D4D4C"/>
                </a:solidFill>
                <a:latin typeface="WORK SANS BOLD ROMAN" pitchFamily="2" charset="77"/>
              </a:rPr>
              <a:t>Operador</a:t>
            </a:r>
          </a:p>
        </p:txBody>
      </p:sp>
      <p:pic>
        <p:nvPicPr>
          <p:cNvPr id="8" name="Picture 7" descr="Vista del administrador: indicadores, usuarios, estaciones, energía y reporte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4087368"/>
            <a:ext cx="3246120" cy="2028825"/>
          </a:xfrm>
          <a:prstGeom prst="rect">
            <a:avLst/>
          </a:prstGeom>
          <a:ln w="9525">
            <a:solidFill>
              <a:srgbClr val="C8C8C8"/>
            </a:solidFill>
          </a:ln>
        </p:spPr>
      </p:pic>
      <p:sp>
        <p:nvSpPr>
          <p:cNvPr id="9" name="Pie Administrador"/>
          <p:cNvSpPr txBox="1"/>
          <p:nvPr/>
        </p:nvSpPr>
        <p:spPr>
          <a:xfrm>
            <a:off x="4846320" y="6163056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1" dirty="0">
                <a:solidFill>
                  <a:srgbClr val="4D4D4C"/>
                </a:solidFill>
                <a:latin typeface="WORK SANS BOLD ROMAN" pitchFamily="2" charset="77"/>
              </a:rPr>
              <a:t>Administrador</a:t>
            </a:r>
          </a:p>
        </p:txBody>
      </p:sp>
      <p:pic>
        <p:nvPicPr>
          <p:cNvPr id="10" name="Picture 9" descr="Vista del superadministrador: perfiles, permisos, niveles de acceso y configuració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7888" y="4087368"/>
            <a:ext cx="3246120" cy="2028825"/>
          </a:xfrm>
          <a:prstGeom prst="rect">
            <a:avLst/>
          </a:prstGeom>
          <a:ln w="9525">
            <a:solidFill>
              <a:srgbClr val="C8C8C8"/>
            </a:solidFill>
          </a:ln>
        </p:spPr>
      </p:pic>
      <p:sp>
        <p:nvSpPr>
          <p:cNvPr id="11" name="Pie Superadministrador"/>
          <p:cNvSpPr txBox="1"/>
          <p:nvPr/>
        </p:nvSpPr>
        <p:spPr>
          <a:xfrm>
            <a:off x="8247888" y="6163056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 b="1" dirty="0">
                <a:solidFill>
                  <a:srgbClr val="4D4D4C"/>
                </a:solidFill>
                <a:latin typeface="WORK SANS BOLD ROMAN" pitchFamily="2" charset="77"/>
              </a:rPr>
              <a:t>Superadministrador</a:t>
            </a:r>
          </a:p>
        </p:txBody>
      </p:sp>
    </p:spTree>
    <p:extLst>
      <p:ext uri="{BB962C8B-B14F-4D97-AF65-F5344CB8AC3E}">
        <p14:creationId xmlns:p14="http://schemas.microsoft.com/office/powerpoint/2010/main" val="4580581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BB6F714C-A6B0-54AE-507A-D0700714D94B}"/>
              </a:ext>
            </a:extLst>
          </p:cNvPr>
          <p:cNvSpPr txBox="1">
            <a:spLocks/>
          </p:cNvSpPr>
          <p:nvPr/>
        </p:nvSpPr>
        <p:spPr>
          <a:xfrm>
            <a:off x="695325" y="416690"/>
            <a:ext cx="10789920" cy="527874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 BOLD ROMAN" pitchFamily="2" charset="77"/>
              </a:rPr>
              <a:t>Plan de trabajo: 3 sprints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F34F41D7-D1E2-1CA5-1156-215427D7E9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3148142"/>
              </p:ext>
            </p:extLst>
          </p:nvPr>
        </p:nvGraphicFramePr>
        <p:xfrm>
          <a:off x="694944" y="1554480"/>
          <a:ext cx="10789920" cy="31546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554480"/>
                <a:gridCol w="4114800"/>
                <a:gridCol w="3474720"/>
              </a:tblGrid>
              <a:tr h="548640">
                <a:extLst>
                  <a:ext uri="{0D108BD9-81ED-4DB2-BD59-A6C34878D82A}">
                    <a16:rowId xmlns:a16="http://schemas.microsoft.com/office/drawing/2014/main" val="2583589052"/>
                  </a:ext>
                </a:extLst>
                <a:tc>
                  <a:txBody>
                    <a:bodyPr/>
                    <a:lstStyle/>
                    <a:p>
                      <a:pPr algn="l"/>
                      <a:r>
                        <a:rPr lang="es-CO" sz="1600" b="1" i="0" dirty="0">
                          <a:latin typeface="WORK SANS REGULAR ROMAN" pitchFamily="2" charset="77"/>
                        </a:rPr>
                        <a:t>Sprint</a:t>
                      </a:r>
                    </a:p>
                  </a:txBody>
                  <a:tcPr marT="36000" marB="36000" anchor="ctr" marL="91440" marR="9144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D4D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600" b="1" i="0" dirty="0">
                          <a:latin typeface="WORK SANS REGULAR ROMAN" pitchFamily="2" charset="77"/>
                        </a:rPr>
                        <a:t>Semanas</a:t>
                      </a:r>
                    </a:p>
                  </a:txBody>
                  <a:tcPr marT="36000" marB="36000" anchor="ctr" marL="91440" marR="9144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D4D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600" b="1" i="0" dirty="0">
                          <a:latin typeface="WORK SANS REGULAR ROMAN" pitchFamily="2" charset="77"/>
                        </a:rPr>
                        <a:t>Enfoque</a:t>
                      </a:r>
                    </a:p>
                  </a:txBody>
                  <a:tcPr marT="36000" marB="36000" anchor="ctr" marL="91440" marR="9144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D4D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600" b="1" i="0" dirty="0">
                          <a:latin typeface="WORK SANS REGULAR ROMAN" pitchFamily="2" charset="77"/>
                        </a:rPr>
                        <a:t>Entrega</a:t>
                      </a:r>
                    </a:p>
                  </a:txBody>
                  <a:tcPr marT="36000" marB="36000" anchor="ctr" marL="91440" marR="9144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D4D4C"/>
                    </a:solidFill>
                  </a:tcPr>
                </a:tc>
              </a:tr>
              <a:tr h="868680">
                <a:extLst>
                  <a:ext uri="{0D108BD9-81ED-4DB2-BD59-A6C34878D82A}">
                    <a16:rowId xmlns:a16="http://schemas.microsoft.com/office/drawing/2014/main" val="2583589052"/>
                  </a:ext>
                </a:extLst>
                <a:tc>
                  <a:txBody>
                    <a:bodyPr/>
                    <a:lstStyle/>
                    <a:p>
                      <a:pPr algn="l"/>
                      <a:r>
                        <a:rPr lang="es-CO" sz="1600" b="1" i="0" dirty="0">
                          <a:solidFill>
                            <a:schemeClr val="accent5">
                              <a:lumMod val="85000"/>
                              <a:lumOff val="15000"/>
                            </a:schemeClr>
                          </a:solidFill>
                          <a:latin typeface="WORK SANS BOLD ROMAN" pitchFamily="2" charset="77"/>
                        </a:rPr>
                        <a:t>Sprint 1</a:t>
                      </a:r>
                    </a:p>
                  </a:txBody>
                  <a:tcPr marT="36000" marB="36000" anchor="ctr" marL="91440" marR="9144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600" b="0" i="0" dirty="0">
                          <a:solidFill>
                            <a:schemeClr val="accent5">
                              <a:lumMod val="85000"/>
                              <a:lumOff val="15000"/>
                            </a:schemeClr>
                          </a:solidFill>
                          <a:latin typeface="WORK SANS LIGHT ROMAN" pitchFamily="2" charset="77"/>
                        </a:rPr>
                        <a:t>1 a 4</a:t>
                      </a:r>
                    </a:p>
                  </a:txBody>
                  <a:tcPr marT="36000" marB="36000" anchor="ctr" marL="91440" marR="9144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600" b="0" i="0" dirty="0">
                          <a:solidFill>
                            <a:schemeClr val="accent5">
                              <a:lumMod val="85000"/>
                              <a:lumOff val="15000"/>
                            </a:schemeClr>
                          </a:solidFill>
                          <a:latin typeface="WORK SANS LIGHT ROMAN" pitchFamily="2" charset="77"/>
                        </a:rPr>
                        <a:t>Base de datos, autenticación y gestión de flota</a:t>
                      </a:r>
                    </a:p>
                  </a:txBody>
                  <a:tcPr marT="36000" marB="36000" anchor="ctr" marL="91440" marR="9144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600" b="0" i="0" dirty="0">
                          <a:solidFill>
                            <a:schemeClr val="accent5">
                              <a:lumMod val="85000"/>
                              <a:lumOff val="15000"/>
                            </a:schemeClr>
                          </a:solidFill>
                          <a:latin typeface="WORK SANS LIGHT ROMAN" pitchFamily="2" charset="77"/>
                        </a:rPr>
                        <a:t>Inicio de sesión y gestión de bicicletas</a:t>
                      </a:r>
                    </a:p>
                  </a:txBody>
                  <a:tcPr marT="36000" marB="36000" anchor="ctr" marL="91440" marR="9144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868680">
                <a:extLst>
                  <a:ext uri="{0D108BD9-81ED-4DB2-BD59-A6C34878D82A}">
                    <a16:rowId xmlns:a16="http://schemas.microsoft.com/office/drawing/2014/main" val="2583589052"/>
                  </a:ext>
                </a:extLst>
                <a:tc>
                  <a:txBody>
                    <a:bodyPr/>
                    <a:lstStyle/>
                    <a:p>
                      <a:pPr algn="l"/>
                      <a:r>
                        <a:rPr lang="es-CO" sz="1600" b="1" i="0" dirty="0">
                          <a:solidFill>
                            <a:schemeClr val="accent5">
                              <a:lumMod val="85000"/>
                              <a:lumOff val="15000"/>
                            </a:schemeClr>
                          </a:solidFill>
                          <a:latin typeface="WORK SANS BOLD ROMAN" pitchFamily="2" charset="77"/>
                        </a:rPr>
                        <a:t>Sprint 2</a:t>
                      </a:r>
                    </a:p>
                  </a:txBody>
                  <a:tcPr marT="36000" marB="36000" anchor="ctr" marL="91440" marR="9144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600" b="0" i="0" dirty="0">
                          <a:solidFill>
                            <a:schemeClr val="accent5">
                              <a:lumMod val="85000"/>
                              <a:lumOff val="15000"/>
                            </a:schemeClr>
                          </a:solidFill>
                          <a:latin typeface="WORK SANS LIGHT ROMAN" pitchFamily="2" charset="77"/>
                        </a:rPr>
                        <a:t>5 a 8</a:t>
                      </a:r>
                    </a:p>
                  </a:txBody>
                  <a:tcPr marT="36000" marB="36000" anchor="ctr" marL="91440" marR="9144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600" b="0" i="0" dirty="0">
                          <a:solidFill>
                            <a:schemeClr val="accent5">
                              <a:lumMod val="85000"/>
                              <a:lumOff val="15000"/>
                            </a:schemeClr>
                          </a:solidFill>
                          <a:latin typeface="WORK SANS LIGHT ROMAN" pitchFamily="2" charset="77"/>
                        </a:rPr>
                        <a:t>Alquiler, tarifas y monitoreo de energía</a:t>
                      </a:r>
                    </a:p>
                  </a:txBody>
                  <a:tcPr marT="36000" marB="36000" anchor="ctr" marL="91440" marR="9144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600" b="0" i="0" dirty="0">
                          <a:solidFill>
                            <a:schemeClr val="accent5">
                              <a:lumMod val="85000"/>
                              <a:lumOff val="15000"/>
                            </a:schemeClr>
                          </a:solidFill>
                          <a:latin typeface="WORK SANS LIGHT ROMAN" pitchFamily="2" charset="77"/>
                        </a:rPr>
                        <a:t>Flujo completo de alquiler</a:t>
                      </a:r>
                    </a:p>
                  </a:txBody>
                  <a:tcPr marT="36000" marB="36000" anchor="ctr" marL="91440" marR="9144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868680">
                <a:extLst>
                  <a:ext uri="{0D108BD9-81ED-4DB2-BD59-A6C34878D82A}">
                    <a16:rowId xmlns:a16="http://schemas.microsoft.com/office/drawing/2014/main" val="2583589052"/>
                  </a:ext>
                </a:extLst>
                <a:tc>
                  <a:txBody>
                    <a:bodyPr/>
                    <a:lstStyle/>
                    <a:p>
                      <a:pPr algn="l"/>
                      <a:r>
                        <a:rPr lang="es-CO" sz="1600" b="1" i="0" dirty="0">
                          <a:solidFill>
                            <a:schemeClr val="accent5">
                              <a:lumMod val="85000"/>
                              <a:lumOff val="15000"/>
                            </a:schemeClr>
                          </a:solidFill>
                          <a:latin typeface="WORK SANS BOLD ROMAN" pitchFamily="2" charset="77"/>
                        </a:rPr>
                        <a:t>Sprint 3</a:t>
                      </a:r>
                    </a:p>
                  </a:txBody>
                  <a:tcPr marT="36000" marB="36000" anchor="ctr" marL="91440" marR="9144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600" b="0" i="0" dirty="0">
                          <a:solidFill>
                            <a:schemeClr val="accent5">
                              <a:lumMod val="85000"/>
                              <a:lumOff val="15000"/>
                            </a:schemeClr>
                          </a:solidFill>
                          <a:latin typeface="WORK SANS LIGHT ROMAN" pitchFamily="2" charset="77"/>
                        </a:rPr>
                        <a:t>9 a 12</a:t>
                      </a:r>
                    </a:p>
                  </a:txBody>
                  <a:tcPr marT="36000" marB="36000" anchor="ctr" marL="91440" marR="9144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600" b="0" i="0" dirty="0">
                          <a:solidFill>
                            <a:schemeClr val="accent5">
                              <a:lumMod val="85000"/>
                              <a:lumOff val="15000"/>
                            </a:schemeClr>
                          </a:solidFill>
                          <a:latin typeface="WORK SANS LIGHT ROMAN" pitchFamily="2" charset="77"/>
                        </a:rPr>
                        <a:t>Experiencia de usuario, analítica y despliegue</a:t>
                      </a:r>
                    </a:p>
                  </a:txBody>
                  <a:tcPr marT="36000" marB="36000" anchor="ctr" marL="91440" marR="9144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600" b="0" i="0" dirty="0">
                          <a:solidFill>
                            <a:schemeClr val="accent5">
                              <a:lumMod val="85000"/>
                              <a:lumOff val="15000"/>
                            </a:schemeClr>
                          </a:solidFill>
                          <a:latin typeface="WORK SANS LIGHT ROMAN" pitchFamily="2" charset="77"/>
                        </a:rPr>
                        <a:t>Demostración completa de 15 minutos</a:t>
                      </a:r>
                    </a:p>
                  </a:txBody>
                  <a:tcPr marT="36000" marB="36000" anchor="ctr" marL="91440" marR="9144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" name="Reto"/>
          <p:cNvSpPr txBox="1"/>
          <p:nvPr/>
        </p:nvSpPr>
        <p:spPr>
          <a:xfrm>
            <a:off x="694944" y="516636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buNone/>
            </a:pPr>
            <a:r>
              <a:rPr lang="es-CO" sz="1600" b="1" dirty="0">
                <a:solidFill>
                  <a:srgbClr val="4D4D4C"/>
                </a:solidFill>
                <a:latin typeface="WORK SANS BOLD ROMAN" pitchFamily="2" charset="77"/>
              </a:rPr>
              <a:t>Reto: </a:t>
            </a:r>
            <a:r>
              <a:rPr lang="es-CO" sz="1600" dirty="0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gestionar 50 bicicletas en 5 estaciones y 100 alquileres diarios, con respuesta menor a 2 segundos.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dirty="0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Metodología: Scrum con aprendizaje basado en retos.</a:t>
            </a:r>
          </a:p>
        </p:txBody>
      </p:sp>
    </p:spTree>
    <p:extLst>
      <p:ext uri="{BB962C8B-B14F-4D97-AF65-F5344CB8AC3E}">
        <p14:creationId xmlns:p14="http://schemas.microsoft.com/office/powerpoint/2010/main" val="22692924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CE75F1-F343-8856-BC69-4BB6B82BF3E4}"/>
              </a:ext>
            </a:extLst>
          </p:cNvPr>
          <p:cNvSpPr txBox="1">
            <a:spLocks/>
          </p:cNvSpPr>
          <p:nvPr/>
        </p:nvSpPr>
        <p:spPr>
          <a:xfrm>
            <a:off x="695325" y="944563"/>
            <a:ext cx="10789920" cy="402295"/>
          </a:xfrm>
          <a:prstGeom prst="rect">
            <a:avLst/>
          </a:prstGeom>
          <a:ln>
            <a:noFill/>
          </a:ln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3600" b="1" u="none" strike="noStrike" kern="1200" cap="none" spc="0" normalizeH="0" baseline="0" noProof="0" dirty="0">
                <a:ln>
                  <a:noFill/>
                </a:ln>
                <a:solidFill>
                  <a:srgbClr val="4D4D4C"/>
                </a:solidFill>
                <a:effectLst/>
                <a:uLnTx/>
                <a:uFillTx/>
                <a:latin typeface="WORK SANS BOLD ROMAN" pitchFamily="2" charset="77"/>
              </a:rPr>
              <a:t>Avance y próximos pasos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6C31FC2-6C63-0CB9-C78D-1723D5E9DD66}"/>
              </a:ext>
            </a:extLst>
          </p:cNvPr>
          <p:cNvSpPr txBox="1"/>
          <p:nvPr/>
        </p:nvSpPr>
        <p:spPr>
          <a:xfrm>
            <a:off x="694944" y="1828800"/>
            <a:ext cx="4846320" cy="36933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  <a:buNone/>
            </a:pPr>
            <a:r>
              <a:rPr lang="es-CO" sz="2200" b="1" dirty="0">
                <a:solidFill>
                  <a:srgbClr val="38AA00"/>
                </a:solidFill>
                <a:latin typeface="WORK SANS BOLD ROMAN" pitchFamily="2" charset="77"/>
              </a:rPr>
              <a:t>Entregado</a:t>
            </a:r>
          </a:p>
          <a:p>
            <a:pPr marL="285750" indent="-285750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s-CO" sz="1800" dirty="0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Matriz de requisitos.</a:t>
            </a:r>
          </a:p>
          <a:p>
            <a:pPr marL="285750" indent="-285750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s-CO" sz="1800" dirty="0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Modelo ER, modelo relacional y script de MySQL.</a:t>
            </a:r>
          </a:p>
          <a:p>
            <a:pPr marL="285750" indent="-285750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s-CO" sz="1800" dirty="0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Front-end en HTML y CSS.</a:t>
            </a:r>
          </a:p>
          <a:p>
            <a:pPr marL="285750" indent="-285750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s-CO" sz="1800" dirty="0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Ficha de proyecto.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9A9B9AD-98C5-3207-38A3-E41FED9161AC}"/>
              </a:ext>
            </a:extLst>
          </p:cNvPr>
          <p:cNvSpPr txBox="1"/>
          <p:nvPr/>
        </p:nvSpPr>
        <p:spPr>
          <a:xfrm>
            <a:off x="6099048" y="1828800"/>
            <a:ext cx="5394960" cy="32932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  <a:buNone/>
            </a:pPr>
            <a:r>
              <a:rPr lang="es-CO" sz="2200" b="1" dirty="0">
                <a:solidFill>
                  <a:srgbClr val="38AA00"/>
                </a:solidFill>
                <a:latin typeface="WORK SANS BOLD ROMAN" pitchFamily="2" charset="77"/>
              </a:rPr>
              <a:t>Siguientes pasos</a:t>
            </a:r>
          </a:p>
          <a:p>
            <a:pPr marL="285750" indent="-285750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s-CO" sz="1800" dirty="0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Backend en PHP 8.2: autenticación y alquileres.</a:t>
            </a:r>
          </a:p>
          <a:p>
            <a:pPr marL="285750" indent="-285750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s-CO" sz="1800" dirty="0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Triggers que llenan la tabla de auditoría.</a:t>
            </a:r>
          </a:p>
          <a:p>
            <a:pPr marL="285750" indent="-285750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s-CO" sz="1800" dirty="0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Decidir la disponibilidad: 99,9 % o 99,5 %.</a:t>
            </a:r>
          </a:p>
          <a:p>
            <a:pPr marL="285750" indent="-285750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Font typeface="Arial"/>
              <a:buChar char="•"/>
            </a:pPr>
            <a:r>
              <a:rPr lang="es-CO" sz="1800" dirty="0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Pruebas y despliegue.</a:t>
            </a:r>
          </a:p>
        </p:txBody>
      </p:sp>
    </p:spTree>
    <p:extLst>
      <p:ext uri="{BB962C8B-B14F-4D97-AF65-F5344CB8AC3E}">
        <p14:creationId xmlns:p14="http://schemas.microsoft.com/office/powerpoint/2010/main" val="458058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4626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Tema de 2022">
  <a:themeElements>
    <a:clrScheme name="Personalizado 1">
      <a:dk1>
        <a:srgbClr val="39A900"/>
      </a:dk1>
      <a:lt1>
        <a:sysClr val="window" lastClr="FFFFFF"/>
      </a:lt1>
      <a:dk2>
        <a:srgbClr val="00304D"/>
      </a:dk2>
      <a:lt2>
        <a:srgbClr val="F6F6F6"/>
      </a:lt2>
      <a:accent1>
        <a:srgbClr val="007832"/>
      </a:accent1>
      <a:accent2>
        <a:srgbClr val="71127A"/>
      </a:accent2>
      <a:accent3>
        <a:srgbClr val="50E5F9"/>
      </a:accent3>
      <a:accent4>
        <a:srgbClr val="FDC300"/>
      </a:accent4>
      <a:accent5>
        <a:srgbClr val="000000"/>
      </a:accent5>
      <a:accent6>
        <a:srgbClr val="70AD47"/>
      </a:accent6>
      <a:hlink>
        <a:srgbClr val="0563C1"/>
      </a:hlink>
      <a:folHlink>
        <a:srgbClr val="71127A"/>
      </a:folHlink>
    </a:clrScheme>
    <a:fontScheme name="Office 2013 - Tema de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Tema de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4114</TotalTime>
  <Words>700</Words>
  <Application>Microsoft Office PowerPoint</Application>
  <PresentationFormat>Panorámica</PresentationFormat>
  <Paragraphs>74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3" baseType="lpstr">
      <vt:lpstr>Arial</vt:lpstr>
      <vt:lpstr>Calibri</vt:lpstr>
      <vt:lpstr>Calibri Light</vt:lpstr>
      <vt:lpstr>WORK SANS BOLD ROMAN</vt:lpstr>
      <vt:lpstr>WORK SANS BOLD ROMAN</vt:lpstr>
      <vt:lpstr>Work Sans Light Roman</vt:lpstr>
      <vt:lpstr>Work Sans Light Roman</vt:lpstr>
      <vt:lpstr>WORK SANS REGULAR ROMAN</vt:lpstr>
      <vt:lpstr>WORK SANS SEMIBOLD ROMAN</vt:lpstr>
      <vt:lpstr>Office 2013 - Tema de 2022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Enrique Pedraza Sanchez</dc:creator>
  <cp:lastModifiedBy>Leonardo Castañeda Ortiz</cp:lastModifiedBy>
  <cp:revision>75</cp:revision>
  <dcterms:created xsi:type="dcterms:W3CDTF">2020-10-01T23:51:28Z</dcterms:created>
  <dcterms:modified xsi:type="dcterms:W3CDTF">2025-08-20T22:15:54Z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c111285-cafa-4fc9-8a9a-bd902089b24f_Enabled">
    <vt:lpwstr>true</vt:lpwstr>
  </property>
  <property fmtid="{D5CDD505-2E9C-101B-9397-08002B2CF9AE}" pid="3" name="MSIP_Label_fc111285-cafa-4fc9-8a9a-bd902089b24f_SetDate">
    <vt:lpwstr>2025-07-11T16:31:34Z</vt:lpwstr>
  </property>
  <property fmtid="{D5CDD505-2E9C-101B-9397-08002B2CF9AE}" pid="4" name="MSIP_Label_fc111285-cafa-4fc9-8a9a-bd902089b24f_Method">
    <vt:lpwstr>Privileged</vt:lpwstr>
  </property>
  <property fmtid="{D5CDD505-2E9C-101B-9397-08002B2CF9AE}" pid="5" name="MSIP_Label_fc111285-cafa-4fc9-8a9a-bd902089b24f_Name">
    <vt:lpwstr>Public</vt:lpwstr>
  </property>
  <property fmtid="{D5CDD505-2E9C-101B-9397-08002B2CF9AE}" pid="6" name="MSIP_Label_fc111285-cafa-4fc9-8a9a-bd902089b24f_SiteId">
    <vt:lpwstr>cbc2c381-2f2e-4d93-91d1-506c9316ace7</vt:lpwstr>
  </property>
  <property fmtid="{D5CDD505-2E9C-101B-9397-08002B2CF9AE}" pid="7" name="MSIP_Label_fc111285-cafa-4fc9-8a9a-bd902089b24f_ActionId">
    <vt:lpwstr>c6329c04-9ceb-4fca-88c8-0029777b3481</vt:lpwstr>
  </property>
  <property fmtid="{D5CDD505-2E9C-101B-9397-08002B2CF9AE}" pid="8" name="MSIP_Label_fc111285-cafa-4fc9-8a9a-bd902089b24f_ContentBits">
    <vt:lpwstr>0</vt:lpwstr>
  </property>
  <property fmtid="{D5CDD505-2E9C-101B-9397-08002B2CF9AE}" pid="9" name="MSIP_Label_fc111285-cafa-4fc9-8a9a-bd902089b24f_Tag">
    <vt:lpwstr>10, 0, 1, 1</vt:lpwstr>
  </property>
</Properties>
</file>